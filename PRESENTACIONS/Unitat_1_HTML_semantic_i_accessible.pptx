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15568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semàntic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accessible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9E3"/>
                </a:solidFill>
              </a:rPr>
              <a:t>Unitat 1 · Llenguatges de Marques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53035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Organitza → marca la funció → prova amb teclat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28016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46136" y="1371600"/>
            <a:ext cx="3127248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&lt;header&gt;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8120" y="212140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46136" y="2212848"/>
            <a:ext cx="3127248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&lt;nav&gt;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18120" y="2962656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3054096"/>
            <a:ext cx="31272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&lt;main&gt;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&lt;article&gt;…&lt;/article&gt;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&lt;/main&gt;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422452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6136" y="4315968"/>
            <a:ext cx="3127248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&lt;footer&gt;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Abans d’etiquetar, entén la informació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Activació · què és cada fragment del catàleg?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C9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920240"/>
            <a:ext cx="4681728" cy="1801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Núvol de paper. Catàleg de material creatiu. Productes. Quadern cosit. Paper reciclat de 80 g/m². 6,50 €. Contacte.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06440" y="2788920"/>
            <a:ext cx="777240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1691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31736" y="1783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1783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2834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2926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apartat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52560" y="2834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2926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977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4069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52560" y="3977640"/>
            <a:ext cx="1847088" cy="658368"/>
          </a:xfrm>
          <a:prstGeom prst="roundRect">
            <a:avLst>
              <a:gd name="adj" fmla="val 11111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4069080"/>
            <a:ext cx="159105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48463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864"/>
                </a:solidFill>
              </a:rPr>
              <a:t>Pregunta: quines parts podrien tindre sentit fora de la pàgina?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model de contingut a l’HTML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La semàntica descriu la funció; no l’aparença.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057400"/>
            <a:ext cx="2624328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Què tenim?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49040" y="2578608"/>
            <a:ext cx="621792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196596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057400"/>
            <a:ext cx="2624328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Què és cada part?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43800" y="2578608"/>
            <a:ext cx="621792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196596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2057400"/>
            <a:ext cx="2624328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ho marquem?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874520" y="3977640"/>
            <a:ext cx="8366760" cy="1170432"/>
          </a:xfrm>
          <a:prstGeom prst="roundRect">
            <a:avLst>
              <a:gd name="adj" fmla="val 468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40782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39112" y="4325112"/>
            <a:ext cx="8037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&lt;h1&gt;Catàleg de Núvol de paper&lt;/h1&gt;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&lt;p&gt;Material creatiu per a idees quotidianes.&lt;/p&gt;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5532120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03864"/>
                </a:solidFill>
              </a:rPr>
              <a:t>Resultat: una pàgina més comprensible, mantenible i útil amb tecnologies de suport.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d’un document HTML actual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Informació per al navegador i per a les persones usuàries.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989320" cy="4160520"/>
          </a:xfrm>
          <a:prstGeom prst="roundRect">
            <a:avLst>
              <a:gd name="adj" fmla="val 1319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922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6112" y="2039112"/>
            <a:ext cx="566013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&lt;!doctype html&gt;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&lt;html lang="ca"&gt;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&lt;head&gt;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&lt;meta charset="UTF-8"&gt;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&lt;meta name="viewport" content="width=device-width, initial-scale=1"&gt;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&lt;title&gt;Núvol de paper | Catàleg&lt;/title&gt;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&lt;/head&gt;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&lt;body&gt;…&lt;/body&gt;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1874520"/>
            <a:ext cx="425196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lang: ajuda a interpretar l’idioma.</a:t>
            </a:r>
            <a:endParaRPr lang="en-US" sz="1700" dirty="0"/>
          </a:p>
          <a:p>
            <a:pPr marL="190500" indent="-1905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charset: conserva accents i caràcters.</a:t>
            </a:r>
            <a:endParaRPr lang="en-US" sz="1700" dirty="0"/>
          </a:p>
          <a:p>
            <a:pPr marL="190500" indent="-1905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viewport: base habitual per a pantalles menudes.</a:t>
            </a:r>
            <a:endParaRPr lang="en-US" sz="1700" dirty="0"/>
          </a:p>
          <a:p>
            <a:pPr marL="190500" indent="-1905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title: identifica la pàgina a la pestanya i l’historial.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23760" y="507492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2D4"/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1776" y="5166360"/>
            <a:ext cx="363016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viewport no substituïx un disseny adaptable.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`title` no és `h1`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Tots dos són títols, però tenen funcions diferents.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9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920240"/>
            <a:ext cx="4544568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Pestanya del navegador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Núvol de paper | Catàleg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9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920240"/>
            <a:ext cx="4544568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Dins de la pàgina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Catàleg de Núvol de paper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874520" y="3977640"/>
            <a:ext cx="8321040" cy="1115568"/>
          </a:xfrm>
          <a:prstGeom prst="roundRect">
            <a:avLst>
              <a:gd name="adj" fmla="val 491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40782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39112" y="4325112"/>
            <a:ext cx="79918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&lt;title&gt;Núvol de paper | Catàleg&lt;/title&gt;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&lt;h1&gt;Catàleg de Núvol de paper&lt;/h1&gt;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5321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864"/>
                </a:solidFill>
              </a:rPr>
              <a:t>El `title` distingix pàgines obertes; l’`h1` encapçala el contingut principal.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Encapçalaments: jerarquia, no grandària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El nivell expressa la subordinació del contingut.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  Catàleg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  Productes destacats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C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  Quadern cosit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C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  Bloc de notes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  Com contactar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53312" y="2240280"/>
            <a:ext cx="329184" cy="2697480"/>
          </a:xfrm>
          <a:prstGeom prst="line">
            <a:avLst/>
          </a:prstGeom>
          <a:noFill/>
          <a:ln w="16510">
            <a:solidFill>
              <a:srgbClr val="C9D5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05740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DE8E7"/>
          </a:solidFill>
          <a:ln w="10160">
            <a:solidFill>
              <a:srgbClr val="F4B6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2148840"/>
            <a:ext cx="399592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 No tries &lt;h3&gt; perquè “es veu més menut”.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365760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3749040"/>
            <a:ext cx="399592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Tria el nivell segons la relació entre idees.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Regions que orienten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Les grans zones d’una pàgina tenen una funció recognoscible.</a:t>
            </a:r>
            <a:endParaRPr lang="en-US" sz="1300" dirty="0"/>
          </a:p>
        </p:txBody>
      </p:sp>
      <p:pic>
        <p:nvPicPr>
          <p:cNvPr id="8" name="Image 0" descr="/var/folders/sf/v7nvqf2j4bg642v4_p8y6mx80000gn/T/opencode/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7589520" cy="4270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17830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23376" y="1874520"/>
            <a:ext cx="2258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&lt;header&gt; + &lt;nav&gt;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95360" y="2743200"/>
            <a:ext cx="2514600" cy="786384"/>
          </a:xfrm>
          <a:prstGeom prst="roundRect">
            <a:avLst>
              <a:gd name="adj" fmla="val 9302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23376" y="2834640"/>
            <a:ext cx="225856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&lt;main&gt;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contingut principal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595360" y="3931920"/>
            <a:ext cx="2514600" cy="786384"/>
          </a:xfrm>
          <a:prstGeom prst="roundRect">
            <a:avLst>
              <a:gd name="adj" fmla="val 9302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23376" y="4023360"/>
            <a:ext cx="225856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&lt;section&gt; + &lt;article&gt;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i fitxes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595360" y="51206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23376" y="5212080"/>
            <a:ext cx="2258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603504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Captura real renderitzada localment amb Google Chrome.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`section` o `article`?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Agrupa un tema o identifica una peça independent?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8463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2F6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28800"/>
            <a:ext cx="4590288" cy="3355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&lt;section&gt;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Productes destacats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&lt;article&gt;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Quadern cosit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&lt;/article&gt;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&lt;article&gt;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Bloc de notes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&lt;/article&gt;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&lt;/section&gt;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965960"/>
            <a:ext cx="4041648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Apartat temàtic, normalment amb un encapçalament.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3749040"/>
            <a:ext cx="4041648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que conserva sentit per si mateixa.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Navegar sense repetir el menú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L’enllaç de salt és el primer element interactiu de la pàgina.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737360"/>
            <a:ext cx="5669280" cy="1325880"/>
          </a:xfrm>
          <a:prstGeom prst="roundRect">
            <a:avLst>
              <a:gd name="adj" fmla="val 413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8379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" y="2084832"/>
            <a:ext cx="534009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&lt;a href="#contingut"&gt;Vés al contingut principal&lt;/a&gt;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&lt;main id="contingut"&gt;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4069080"/>
            <a:ext cx="2304288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Enllaç de salt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67328" y="4407408"/>
            <a:ext cx="640080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3977640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4069080"/>
            <a:ext cx="2304288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Menú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42048" y="4407408"/>
            <a:ext cx="640080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3977640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4069080"/>
            <a:ext cx="2304288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Contingut principal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5321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864"/>
                </a:solidFill>
              </a:rPr>
              <a:t>Prova-ho: prem Tab i observa on apareix el focus.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Enllaços que s’entenen fora de context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El text de l’enllaç ha d’explicar la destinació.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FDE8E7"/>
          </a:solidFill>
          <a:ln w="10160">
            <a:solidFill>
              <a:srgbClr val="F4B6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920240"/>
            <a:ext cx="4133088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 &lt;a href="contacte.html"&gt;Fes clic ací&lt;/a&gt;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20840" y="182880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8856" y="1920240"/>
            <a:ext cx="4133088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&lt;a href="contacte.html"&gt;Contacte&lt;/a&gt;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874520" y="3794760"/>
            <a:ext cx="8366760" cy="1143000"/>
          </a:xfrm>
          <a:prstGeom prst="roundRect">
            <a:avLst>
              <a:gd name="adj" fmla="val 4800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38953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39112" y="4142232"/>
            <a:ext cx="803757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&lt;li&gt;&lt;a href="index.html"&gt;Catàleg&lt;/a&gt;&lt;/li&gt;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&lt;li&gt;&lt;a href="contacte.html"&gt;Contacte&lt;/a&gt;&lt;/li&gt;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03864"/>
                </a:solidFill>
              </a:rPr>
              <a:t>Quan es llig una llista d’enllaços, la destinació continua sent clara.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Dades estructurades: una taula no és maquetació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Usa-la quan les dades compartixen files i columnes.</a:t>
            </a:r>
            <a:endParaRPr lang="en-US" sz="1300" dirty="0"/>
          </a:p>
        </p:txBody>
      </p:sp>
      <p:pic>
        <p:nvPicPr>
          <p:cNvPr id="8" name="Image 0" descr="/var/folders/sf/v7nvqf2j4bg642v4_p8y6mx80000gn/T/opencode/ta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55648"/>
            <a:ext cx="7543800" cy="4242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192024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23376" y="2011680"/>
            <a:ext cx="2167128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&lt;caption&gt;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el conjunt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95360" y="3063240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23376" y="3154680"/>
            <a:ext cx="21671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&lt;th scope="col"&gt;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capçalera de columna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95360" y="4434840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FFF2D4"/>
          </a:solidFill>
          <a:ln w="10160">
            <a:solidFill>
              <a:srgbClr val="FFF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23376" y="4526280"/>
            <a:ext cx="21671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&lt;th scope="row"&gt;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capçalera de fila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" y="603504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Captura real renderitzada localment amb Google Chrome.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Formularis: cada control necessita un nom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L’etiqueta visible i el control han d’estar associats.</a:t>
            </a:r>
            <a:endParaRPr lang="en-US" sz="1300" dirty="0"/>
          </a:p>
        </p:txBody>
      </p:sp>
      <p:pic>
        <p:nvPicPr>
          <p:cNvPr id="8" name="Image 0" descr="/var/folders/sf/v7nvqf2j4bg642v4_p8y6mx80000gn/T/opencode/contac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55648"/>
            <a:ext cx="7543800" cy="4242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8745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14232" y="19751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714232" y="2221992"/>
            <a:ext cx="22768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&lt;label for="nom"&gt;Nom&lt;/label&gt;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&lt;input id="nom" name="nom" type="text" required&gt;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95360" y="3886200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23376" y="3977640"/>
            <a:ext cx="216712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`for` i `id`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coincidixen exactament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0" y="5010912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FFF2D4"/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23376" y="5102352"/>
            <a:ext cx="216712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`required` marca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camp obligatori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" y="603504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Captura real renderitzada localment amb Google Chrome.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és una prova, no un canal per a dades reals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Amb `action="#"`, no hi ha servidor, però els valors poden aparéixer a l’adreça.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8836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E3D5"/>
                </a:solidFill>
              </a:rPr>
              <a:t>HTML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33272" y="2130552"/>
            <a:ext cx="460857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&lt;form action="#" method="get"&gt;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&lt;button type="submit"&gt;Enviar consulta&lt;/button&gt;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1828800"/>
            <a:ext cx="4434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9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7416" y="1920240"/>
            <a:ext cx="41788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https://…/contacte.html?nom=…&amp;consulta=…#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2514600"/>
            <a:ext cx="521208" cy="-365760"/>
          </a:xfrm>
          <a:prstGeom prst="line">
            <a:avLst/>
          </a:prstGeom>
          <a:noFill/>
          <a:ln w="22860">
            <a:solidFill>
              <a:srgbClr val="F4B94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310896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DE8E7"/>
          </a:solidFill>
          <a:ln w="10160">
            <a:solidFill>
              <a:srgbClr val="F4B6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3200400"/>
            <a:ext cx="41788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escrigues dades reals.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Poden quedar a la barra d’adreces o a l’historial.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9834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C7A"/>
                </a:solidFill>
              </a:rPr>
              <a:t>Prova amb un nom i una consulta inventats.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7C7A"/>
                </a:solidFill>
              </a:rPr>
              <a:t>LLENGUATGES DE MARQUES · UNITAT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173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762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8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Pràctica: fitxa de taller en dues pàgines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3"/>
                </a:solidFill>
              </a:rPr>
              <a:t>Construeix, prova, revisa.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2167128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Presentació, serveis i taula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63240" y="2724912"/>
            <a:ext cx="338328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96596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57400"/>
            <a:ext cx="2167128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contacte.html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Mateixa navegació i formulari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2724912"/>
            <a:ext cx="338328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96596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DCEAF7"/>
          </a:solidFill>
          <a:ln w="10160">
            <a:solidFill>
              <a:srgbClr val="DC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2057400"/>
            <a:ext cx="2167128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Enllaços, controls i focus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23960" y="2724912"/>
            <a:ext cx="338328" cy="0"/>
          </a:xfrm>
          <a:prstGeom prst="line">
            <a:avLst/>
          </a:prstGeom>
          <a:noFill/>
          <a:ln w="2286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96596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DDF3EF"/>
          </a:solidFill>
          <a:ln w="10160">
            <a:solidFill>
              <a:srgbClr val="DDF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057400"/>
            <a:ext cx="2167128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Estructura, dades fictícies i validador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7280" y="46177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03864"/>
          </a:solidFill>
          <a:ln w="10160">
            <a:solidFill>
              <a:srgbClr val="20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709160"/>
            <a:ext cx="971092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Organitza → marca la funció → prova amb teclat → corregeix → valida si és possible.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57150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6173"/>
                </a:solidFill>
              </a:rPr>
              <a:t>L’objectiu no és decorar la pàgina: és fer que la seua estructura s’entenga.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semàntic i accessible</dc:title>
  <dc:subject>Llenguatges de Marques · Unitat 1</dc:subject>
  <dc:creator>Ferran Mas Doménech</dc:creator>
  <cp:lastModifiedBy>Ferran Mas Doménech</cp:lastModifiedBy>
  <cp:revision>1</cp:revision>
  <dcterms:created xsi:type="dcterms:W3CDTF">2026-09-28T15:49:47Z</dcterms:created>
  <dcterms:modified xsi:type="dcterms:W3CDTF">2026-09-28T15:49:47Z</dcterms:modified>
</cp:coreProperties>
</file>