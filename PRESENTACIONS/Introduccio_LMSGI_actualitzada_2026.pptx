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4" r:id="rId37"/>
    <p:sldId id="295" r:id="rId38"/>
    <p:sldId id="296" r:id="rId39"/>
    <p:sldId id="297" r:id="rId40"/>
    <p:sldId id="292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 snapToObjects="1">
      <p:cViewPr varScale="1">
        <p:scale>
          <a:sx n="114" d="100"/>
          <a:sy n="114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3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FFFFFF"/>
                </a:solidFill>
                <a:latin typeface="Aptos"/>
              </a:rPr>
              <a:t>INTRODUCCIÓ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Llenguatges de marques
i sistemes de gestió d’informació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CDDCE6"/>
                </a:solidFill>
                <a:latin typeface="Aptos"/>
              </a:rPr>
              <a:t>Introducció actualitzada · CFGS Desenrotllament d’Aplicacions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63440"/>
            <a:ext cx="3200400" cy="960120"/>
          </a:xfrm>
          <a:prstGeom prst="roundRect">
            <a:avLst/>
          </a:prstGeom>
          <a:solidFill>
            <a:srgbClr val="1E384E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4663440"/>
            <a:ext cx="73152" cy="96012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4828031"/>
            <a:ext cx="2816352" cy="59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chemeClr val="bg1"/>
                </a:solidFill>
                <a:latin typeface="Aptos"/>
              </a:rPr>
              <a:t>2026</a:t>
            </a:r>
          </a:p>
          <a:p>
            <a:pPr>
              <a:spcBef>
                <a:spcPts val="700"/>
              </a:spcBef>
            </a:pPr>
            <a:r>
              <a:rPr sz="1200" dirty="0">
                <a:solidFill>
                  <a:schemeClr val="bg1"/>
                </a:solidFill>
                <a:latin typeface="Aptos"/>
              </a:rPr>
              <a:t>De SGML a JSON, YAML </a:t>
            </a:r>
            <a:r>
              <a:rPr sz="1200" dirty="0" err="1">
                <a:solidFill>
                  <a:schemeClr val="bg1"/>
                </a:solidFill>
                <a:latin typeface="Aptos"/>
              </a:rPr>
              <a:t>i</a:t>
            </a:r>
            <a:r>
              <a:rPr sz="1200" dirty="0">
                <a:solidFill>
                  <a:schemeClr val="bg1"/>
                </a:solidFill>
                <a:latin typeface="Aptos"/>
              </a:rPr>
              <a:t> la web actual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4663440"/>
            <a:ext cx="3200400" cy="960120"/>
          </a:xfrm>
          <a:prstGeom prst="roundRect">
            <a:avLst/>
          </a:prstGeom>
          <a:solidFill>
            <a:srgbClr val="1E384E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4663440"/>
            <a:ext cx="73152" cy="96012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4828031"/>
            <a:ext cx="2816352" cy="59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 err="1">
                <a:solidFill>
                  <a:schemeClr val="bg1"/>
                </a:solidFill>
                <a:latin typeface="Aptos"/>
              </a:rPr>
              <a:t>Objectiu</a:t>
            </a:r>
            <a:endParaRPr sz="1500" b="1" dirty="0">
              <a:solidFill>
                <a:schemeClr val="bg1"/>
              </a:solidFill>
              <a:latin typeface="Aptos"/>
            </a:endParaRPr>
          </a:p>
          <a:p>
            <a:pPr>
              <a:spcBef>
                <a:spcPts val="700"/>
              </a:spcBef>
            </a:pPr>
            <a:r>
              <a:rPr sz="1200" dirty="0">
                <a:solidFill>
                  <a:schemeClr val="bg1"/>
                </a:solidFill>
                <a:latin typeface="Aptos"/>
              </a:rPr>
              <a:t>Entendre, </a:t>
            </a:r>
            <a:r>
              <a:rPr sz="1200" dirty="0" err="1">
                <a:solidFill>
                  <a:schemeClr val="bg1"/>
                </a:solidFill>
                <a:latin typeface="Aptos"/>
              </a:rPr>
              <a:t>comparar</a:t>
            </a:r>
            <a:r>
              <a:rPr sz="1200" dirty="0">
                <a:solidFill>
                  <a:schemeClr val="bg1"/>
                </a:solidFill>
                <a:latin typeface="Aptos"/>
              </a:rPr>
              <a:t> </a:t>
            </a:r>
            <a:r>
              <a:rPr sz="1200" dirty="0" err="1">
                <a:solidFill>
                  <a:schemeClr val="bg1"/>
                </a:solidFill>
                <a:latin typeface="Aptos"/>
              </a:rPr>
              <a:t>i</a:t>
            </a:r>
            <a:r>
              <a:rPr sz="1200" dirty="0">
                <a:solidFill>
                  <a:schemeClr val="bg1"/>
                </a:solidFill>
                <a:latin typeface="Aptos"/>
              </a:rPr>
              <a:t> </a:t>
            </a:r>
            <a:r>
              <a:rPr sz="1200" dirty="0" err="1">
                <a:solidFill>
                  <a:schemeClr val="bg1"/>
                </a:solidFill>
                <a:latin typeface="Aptos"/>
              </a:rPr>
              <a:t>triar</a:t>
            </a:r>
            <a:r>
              <a:rPr sz="1200" dirty="0">
                <a:solidFill>
                  <a:schemeClr val="bg1"/>
                </a:solidFill>
                <a:latin typeface="Aptos"/>
              </a:rPr>
              <a:t> formats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663440"/>
            <a:ext cx="3200400" cy="960120"/>
          </a:xfrm>
          <a:prstGeom prst="roundRect">
            <a:avLst/>
          </a:prstGeom>
          <a:solidFill>
            <a:srgbClr val="1E384E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4663440"/>
            <a:ext cx="73152" cy="96012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91272" y="4828031"/>
            <a:ext cx="2816352" cy="59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 err="1">
                <a:solidFill>
                  <a:schemeClr val="bg1"/>
                </a:solidFill>
                <a:latin typeface="Aptos"/>
              </a:rPr>
              <a:t>Metodologia</a:t>
            </a:r>
            <a:endParaRPr sz="1500" b="1" dirty="0">
              <a:solidFill>
                <a:schemeClr val="bg1"/>
              </a:solidFill>
              <a:latin typeface="Aptos"/>
            </a:endParaRPr>
          </a:p>
          <a:p>
            <a:pPr>
              <a:spcBef>
                <a:spcPts val="700"/>
              </a:spcBef>
            </a:pPr>
            <a:r>
              <a:rPr sz="1200" dirty="0" err="1">
                <a:solidFill>
                  <a:schemeClr val="bg1"/>
                </a:solidFill>
                <a:latin typeface="Aptos"/>
              </a:rPr>
              <a:t>Exemples</a:t>
            </a:r>
            <a:r>
              <a:rPr sz="1200" dirty="0">
                <a:solidFill>
                  <a:schemeClr val="bg1"/>
                </a:solidFill>
                <a:latin typeface="Aptos"/>
              </a:rPr>
              <a:t> + </a:t>
            </a:r>
            <a:r>
              <a:rPr sz="1200" dirty="0" err="1">
                <a:solidFill>
                  <a:schemeClr val="bg1"/>
                </a:solidFill>
                <a:latin typeface="Aptos"/>
              </a:rPr>
              <a:t>activitats</a:t>
            </a:r>
            <a:r>
              <a:rPr sz="1200" dirty="0">
                <a:solidFill>
                  <a:schemeClr val="bg1"/>
                </a:solidFill>
                <a:latin typeface="Aptos"/>
              </a:rPr>
              <a:t> </a:t>
            </a:r>
            <a:r>
              <a:rPr sz="1200" dirty="0" err="1">
                <a:solidFill>
                  <a:schemeClr val="bg1"/>
                </a:solidFill>
                <a:latin typeface="Aptos"/>
              </a:rPr>
              <a:t>curtes</a:t>
            </a:r>
            <a:endParaRPr sz="1200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OBJECTIUS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Què hauríem de saber en acabar la introducció?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252D34"/>
                </a:solidFill>
                <a:latin typeface="Aptos"/>
              </a:rPr>
              <a:t>• Distingir llenguatge de marques, format de serialització, llenguatge de configuració i llenguatge de programació.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52D34"/>
                </a:solidFill>
                <a:latin typeface="Aptos"/>
              </a:rPr>
              <a:t>• Reconéixer estructura, dades, metadades, etiquetes, atributs, claus, valors i jerarquia.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52D34"/>
                </a:solidFill>
                <a:latin typeface="Aptos"/>
              </a:rPr>
              <a:t>• Comparar HTML, XML, JSON, YAML, TOML i Markdown segons el problema que resolen.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52D34"/>
                </a:solidFill>
                <a:latin typeface="Aptos"/>
              </a:rPr>
              <a:t>• Entendre per què HTML i XML continuen vius, però comparteixen espai amb formats més moderns.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52D34"/>
                </a:solidFill>
                <a:latin typeface="Aptos"/>
              </a:rPr>
              <a:t>• Llegir i modificar exemples reals de web, APIs, GitHub Actions, Docker Compose i configuració.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3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FFFFFF"/>
                </a:solidFill>
                <a:latin typeface="Aptos"/>
              </a:rPr>
              <a:t>1 · QUÈ ÉS «MARCAR» INFORMACIÓ?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1051560"/>
            <a:ext cx="2194560" cy="2194560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7680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1 · Què és «marcar» informació?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DDCE6"/>
                </a:solidFill>
                <a:latin typeface="Aptos"/>
              </a:rPr>
              <a:t>Abans de parlar de formats, separem contingut, estructura, presentació i significat.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CONCEPTES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Un llenguatge de marques afegeix informació al contingut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73152" cy="4023360"/>
          </a:xfrm>
          <a:prstGeom prst="rect">
            <a:avLst/>
          </a:prstGeom>
          <a:solidFill>
            <a:srgbClr val="23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491947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3293D"/>
                </a:solidFill>
                <a:latin typeface="Aptos"/>
              </a:rPr>
              <a:t>Text sense estructura</a:t>
            </a:r>
          </a:p>
          <a:p>
            <a:pPr>
              <a:spcBef>
                <a:spcPts val="700"/>
              </a:spcBef>
            </a:pPr>
            <a:r>
              <a:rPr sz="1700">
                <a:solidFill>
                  <a:srgbClr val="252D34"/>
                </a:solidFill>
                <a:latin typeface="Aptos"/>
              </a:rPr>
              <a:t>Oferta: Portàtil
Preu: 899 €
Disponible: sí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73152" cy="402336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993392"/>
            <a:ext cx="491947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3293D"/>
                </a:solidFill>
                <a:latin typeface="Aptos"/>
              </a:rPr>
              <a:t>Text amb marques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52D34"/>
                </a:solidFill>
                <a:latin typeface="Aptos"/>
              </a:rPr>
              <a:t>&lt;producte&gt;
  &lt;nom&gt;Portàtil&lt;/nom&gt;
  &lt;preu moneda="EUR"&gt;899&lt;/preu&gt;
  &lt;disponible&gt;true&lt;/disponible&gt;
&lt;/producte&gt;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CONCEPTES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Quatre capes que convé no confondre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5603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73152" cy="3291840"/>
          </a:xfrm>
          <a:prstGeom prst="rect">
            <a:avLst/>
          </a:prstGeom>
          <a:solidFill>
            <a:srgbClr val="23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217627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3293D"/>
                </a:solidFill>
                <a:latin typeface="Aptos"/>
              </a:rPr>
              <a:t>Contingut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52D34"/>
                </a:solidFill>
                <a:latin typeface="Aptos"/>
              </a:rPr>
              <a:t>«899 €»
La informació que volem comunicar.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5603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73152" cy="329184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993392"/>
            <a:ext cx="217627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3293D"/>
                </a:solidFill>
                <a:latin typeface="Aptos"/>
              </a:rPr>
              <a:t>Estructura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52D34"/>
                </a:solidFill>
                <a:latin typeface="Aptos"/>
              </a:rPr>
              <a:t>&lt;preu&gt;899&lt;/preu&gt;
Què és cada part i com s’organitza.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25603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329184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993392"/>
            <a:ext cx="217627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3293D"/>
                </a:solidFill>
                <a:latin typeface="Aptos"/>
              </a:rPr>
              <a:t>Presentació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52D34"/>
                </a:solidFill>
                <a:latin typeface="Aptos"/>
              </a:rPr>
              <a:t>color, mida, posició
Com es mostra a l’usuari.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828800"/>
            <a:ext cx="25603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15400" y="1828800"/>
            <a:ext cx="73152" cy="329184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5712" y="1993392"/>
            <a:ext cx="217627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3293D"/>
                </a:solidFill>
                <a:latin typeface="Aptos"/>
              </a:rPr>
              <a:t>Semàntica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52D34"/>
                </a:solidFill>
                <a:latin typeface="Aptos"/>
              </a:rPr>
              <a:t>preu + moneda
Quin significat té per a persones i màquines.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ACTIVITAT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Activitat 1 · Marca el menú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C76"/>
                </a:solidFill>
                <a:latin typeface="Aptos"/>
              </a:rPr>
              <a:t>Aplicació immediata del que acabem de veure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84831"/>
            <a:ext cx="10287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3293D"/>
                </a:solidFill>
                <a:latin typeface="Aptos"/>
              </a:rPr>
              <a:t>Tens aquest text: «Entrepà vegetal · 5,50 € · al·lèrgens: gluten, ou». Proposa una estructura que permeta a una aplicació identificar nom, preu i al·lèrgens.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5196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73152" cy="123444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2" y="4416552"/>
            <a:ext cx="263347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Temps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8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25196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69080" y="4251960"/>
            <a:ext cx="73152" cy="123444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4416552"/>
            <a:ext cx="263347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Format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Parelles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251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251960"/>
            <a:ext cx="73152" cy="123444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25512" y="4416552"/>
            <a:ext cx="295351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Resultat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3–5 línies de codi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CONCEPTES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No tot el text estructurat és un llenguatge de marques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606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3152" cy="347472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993392"/>
            <a:ext cx="222199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3293D"/>
                </a:solidFill>
                <a:latin typeface="Aptos"/>
              </a:rPr>
              <a:t>Marques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HTML · XML · SVG
Usen elements/etiquetes per descriure estructura o semàntica.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606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73152" cy="347472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1993392"/>
            <a:ext cx="222199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3293D"/>
                </a:solidFill>
                <a:latin typeface="Aptos"/>
              </a:rPr>
              <a:t>Serialització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JSON · YAML
Representen dades estructurades per guardar-les o intercanviar-les.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2606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73152" cy="347472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1993392"/>
            <a:ext cx="222199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3293D"/>
                </a:solidFill>
                <a:latin typeface="Aptos"/>
              </a:rPr>
              <a:t>Configuració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YAML · TOML · JSON
Sovint descriuen opcions i paràmetres d’un sistema.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828800"/>
            <a:ext cx="26060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69680" y="1828800"/>
            <a:ext cx="73152" cy="347472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9992" y="1993392"/>
            <a:ext cx="2221992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3293D"/>
                </a:solidFill>
                <a:latin typeface="Aptos"/>
              </a:rPr>
              <a:t>Text lleuger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Markdown
Afig una sintaxi mínima per estructurar documentació.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3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FFFFFF"/>
                </a:solidFill>
                <a:latin typeface="Aptos"/>
              </a:rPr>
              <a:t>2 · D’ON VENIM?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1051560"/>
            <a:ext cx="2194560" cy="2194560"/>
          </a:xfrm>
          <a:prstGeom prst="ellipse">
            <a:avLst/>
          </a:prstGeom>
          <a:solidFill>
            <a:srgbClr val="23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7680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2 · D’on venim?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DDCE6"/>
                </a:solidFill>
                <a:latin typeface="Aptos"/>
              </a:rPr>
              <a:t>Una història curta: GML → SGML → HTML i XML. Només el necessari per entendre el present.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HISTÒRIA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De documents impresos a la web actual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5840" y="3246120"/>
            <a:ext cx="10058400" cy="54864"/>
          </a:xfrm>
          <a:prstGeom prst="rect">
            <a:avLst/>
          </a:prstGeom>
          <a:solidFill>
            <a:srgbClr val="DD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" y="3099815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286000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3293D"/>
                </a:solidFill>
                <a:latin typeface="Aptos"/>
              </a:rPr>
              <a:t>1969</a:t>
            </a:r>
          </a:p>
          <a:p>
            <a:pPr algn="ctr"/>
            <a:r>
              <a:rPr sz="1200">
                <a:solidFill>
                  <a:srgbClr val="252D34"/>
                </a:solidFill>
                <a:latin typeface="Aptos"/>
              </a:rPr>
              <a:t>GML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5661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06C76"/>
                </a:solidFill>
                <a:latin typeface="Aptos"/>
              </a:rPr>
              <a:t>IBM</a:t>
            </a:r>
          </a:p>
        </p:txBody>
      </p:sp>
      <p:sp>
        <p:nvSpPr>
          <p:cNvPr id="12" name="Oval 11"/>
          <p:cNvSpPr/>
          <p:nvPr/>
        </p:nvSpPr>
        <p:spPr>
          <a:xfrm>
            <a:off x="3108960" y="3099815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40" y="2286000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3293D"/>
                </a:solidFill>
                <a:latin typeface="Aptos"/>
              </a:rPr>
              <a:t>1986</a:t>
            </a:r>
          </a:p>
          <a:p>
            <a:pPr algn="ctr"/>
            <a:r>
              <a:rPr sz="1200">
                <a:solidFill>
                  <a:srgbClr val="252D34"/>
                </a:solidFill>
                <a:latin typeface="Aptos"/>
              </a:rPr>
              <a:t>SGML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5661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06C76"/>
                </a:solidFill>
                <a:latin typeface="Aptos"/>
              </a:rPr>
              <a:t>ISO 8879</a:t>
            </a:r>
          </a:p>
        </p:txBody>
      </p:sp>
      <p:sp>
        <p:nvSpPr>
          <p:cNvPr id="15" name="Oval 14"/>
          <p:cNvSpPr/>
          <p:nvPr/>
        </p:nvSpPr>
        <p:spPr>
          <a:xfrm>
            <a:off x="5120640" y="3099815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2286000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3293D"/>
                </a:solidFill>
                <a:latin typeface="Aptos"/>
              </a:rPr>
              <a:t>1989–91</a:t>
            </a:r>
          </a:p>
          <a:p>
            <a:pPr algn="ctr"/>
            <a:r>
              <a:rPr sz="1200">
                <a:solidFill>
                  <a:srgbClr val="252D34"/>
                </a:solidFill>
                <a:latin typeface="Aptos"/>
              </a:rPr>
              <a:t>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5661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06C76"/>
                </a:solidFill>
                <a:latin typeface="Aptos"/>
              </a:rPr>
              <a:t>CERN / web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0" y="3099815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2286000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3293D"/>
                </a:solidFill>
                <a:latin typeface="Aptos"/>
              </a:rPr>
              <a:t>1998</a:t>
            </a:r>
          </a:p>
          <a:p>
            <a:pPr algn="ctr"/>
            <a:r>
              <a:rPr sz="1200">
                <a:solidFill>
                  <a:srgbClr val="252D34"/>
                </a:solidFill>
                <a:latin typeface="Aptos"/>
              </a:rPr>
              <a:t>XML 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661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06C76"/>
                </a:solidFill>
                <a:latin typeface="Aptos"/>
              </a:rPr>
              <a:t>W3C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0" y="3099815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0" y="2286000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3293D"/>
                </a:solidFill>
                <a:latin typeface="Aptos"/>
              </a:rPr>
              <a:t>2011→</a:t>
            </a:r>
          </a:p>
          <a:p>
            <a:pPr algn="ctr"/>
            <a:r>
              <a:rPr sz="1200">
                <a:solidFill>
                  <a:srgbClr val="252D34"/>
                </a:solidFill>
                <a:latin typeface="Aptos"/>
              </a:rPr>
              <a:t>HTML Living
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5661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06C76"/>
                </a:solidFill>
                <a:latin typeface="Aptos"/>
              </a:rPr>
              <a:t>WHATWG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892040"/>
            <a:ext cx="10241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4892040"/>
            <a:ext cx="73152" cy="96012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4712" y="5056631"/>
            <a:ext cx="98572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Idea clau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La història explica les decisions de disseny, però no ha de ser el centre del mòdul.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HISTÒRIA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SGML: important històricament, secundari en la pràctica actual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918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3291840"/>
          </a:xfrm>
          <a:prstGeom prst="rect">
            <a:avLst/>
          </a:prstGeom>
          <a:solidFill>
            <a:srgbClr val="23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993392"/>
            <a:ext cx="290779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3293D"/>
                </a:solidFill>
                <a:latin typeface="Aptos"/>
              </a:rPr>
              <a:t>Què aporta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És un metallenguatge: permet definir llenguatges de marques i formalitzar la seua estructura.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918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73152" cy="329184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993392"/>
            <a:ext cx="290779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3293D"/>
                </a:solidFill>
                <a:latin typeface="Aptos"/>
              </a:rPr>
              <a:t>Per què importa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HTML i XML s’entenen millor sabent que naixen d’aquesta tradició de documents estructurats.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2918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73152" cy="329184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1993392"/>
            <a:ext cx="290779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3293D"/>
                </a:solidFill>
                <a:latin typeface="Aptos"/>
              </a:rPr>
              <a:t>Què fem al curs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Una diapositiva i un exemple. No cal dedicar-li el mateix pes que a HTML, XML o JSON.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3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FFFFFF"/>
                </a:solidFill>
                <a:latin typeface="Aptos"/>
              </a:rPr>
              <a:t>3 · HTML HUI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1051560"/>
            <a:ext cx="2194560" cy="2194560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7680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3 · HTML hui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DDCE6"/>
                </a:solidFill>
                <a:latin typeface="Aptos"/>
              </a:rPr>
              <a:t>HTML ja no és «un document per mostrar text»: és el llenguatge semàntic central de la plataforma web.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HTML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HTML és estructura i semàntica; CSS és presentació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760720" cy="4480560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53949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HTML SEMÀNTIC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67128"/>
            <a:ext cx="5358383" cy="3959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8EEF2"/>
                </a:solidFill>
                <a:latin typeface="Aptos Mono"/>
              </a:rPr>
              <a:t>&lt;!doctype html&gt;
&lt;html lang="ca"&gt;
  &lt;head&gt;
    &lt;meta charset="utf-8"&gt;
    &lt;title&gt;Notícies del centre&lt;/title&gt;
  &lt;/head&gt;
  &lt;body&gt;
    &lt;main&gt;
      &lt;article&gt;
        &lt;h1&gt;Jornada de portes obertes&lt;/h1&gt;
        &lt;time datetime="2026-09-20"&gt;20 de setembre&lt;/time&gt;
      &lt;/article&gt;
    &lt;/main&gt;
  &lt;/body&gt;
&lt;/html&gt;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828800"/>
            <a:ext cx="4663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1828800"/>
            <a:ext cx="73152" cy="114300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31152" y="1993392"/>
            <a:ext cx="42793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&lt;main&gt;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Contingut principal de la pàgina.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154680"/>
            <a:ext cx="4663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20840" y="3154680"/>
            <a:ext cx="73152" cy="114300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31152" y="3319272"/>
            <a:ext cx="42793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&lt;article&gt;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Unitat de contingut independent.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480560"/>
            <a:ext cx="4663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20840" y="4480560"/>
            <a:ext cx="73152" cy="114300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31152" y="4645152"/>
            <a:ext cx="42793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&lt;time&gt;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Aporta significat temporal llegible per màquines.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HTML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Del HTML presentacional al HTML semàntic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074920" cy="3291840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091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ABANS: APARENÇA DINS DE L’HTML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04288"/>
            <a:ext cx="4672583" cy="2770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EF2"/>
                </a:solidFill>
                <a:latin typeface="Aptos Mono"/>
              </a:rPr>
              <a:t>&lt;body bgcolor="#ffffff"&gt;
  &lt;font size="+2"&gt;&lt;b&gt;Notícies&lt;/b&gt;&lt;/font&gt;
  &lt;br&gt;&lt;br&gt;
  &lt;font color="blue"&gt;20/09/2026&lt;/font&gt;
&lt;/body&gt;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20240"/>
            <a:ext cx="5074920" cy="3291840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7091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ARA: SIGNIFICAT EN 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304288"/>
            <a:ext cx="4672583" cy="2770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EF2"/>
                </a:solidFill>
                <a:latin typeface="Aptos Mono"/>
              </a:rPr>
              <a:t>&lt;main&gt;
  &lt;article&gt;
    &lt;h1&gt;Notícies&lt;/h1&gt;
    &lt;time datetime="2026-09-20"&gt;20/09/2026&lt;/time&gt;
  &lt;/article&gt;
&lt;/main&gt;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3293D"/>
                </a:solidFill>
                <a:latin typeface="Aptos"/>
              </a:rPr>
              <a:t>Presentació → CSS · Comportament → JavaScript · Estructura i semàntica → 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HTML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HTML és un Living Standard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C76"/>
                </a:solidFill>
                <a:latin typeface="Aptos"/>
              </a:rPr>
              <a:t>Ja no té sentit ensenyar «HTML 4 → HTML 5» com si HTML quedara congelat en una versió.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33832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874519"/>
            <a:ext cx="73152" cy="333756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39112"/>
            <a:ext cx="2999232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3293D"/>
                </a:solidFill>
                <a:latin typeface="Aptos"/>
              </a:rPr>
              <a:t>Evolució contínua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L’especificació es manté i actualitza de manera contínua. Les funcionalitats entren a mesura que maduren.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3832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73152" cy="333756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2039112"/>
            <a:ext cx="2999232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3293D"/>
                </a:solidFill>
                <a:latin typeface="Aptos"/>
              </a:rPr>
              <a:t>Web moderna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Inclou semàntica, formularis, multimèdia, interacció i APIs relacionades amb documents i aplicacions.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3832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73152" cy="333756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2039112"/>
            <a:ext cx="2999232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3293D"/>
                </a:solidFill>
                <a:latin typeface="Aptos"/>
              </a:rPr>
              <a:t>Extensibilitat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Els Custom Elements permeten definir elements propis amb comportament, integrats amb el DOM.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ACTIVITAT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Activitat 2 · Detectiu d’HTML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C76"/>
                </a:solidFill>
                <a:latin typeface="Aptos"/>
              </a:rPr>
              <a:t>Aplicació immediata del que acabem de veure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84831"/>
            <a:ext cx="10287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3293D"/>
                </a:solidFill>
                <a:latin typeface="Aptos"/>
              </a:rPr>
              <a:t>Busca en una web real (premsa, botiga o centre educatiu) exemples de &lt;header&gt;, &lt;nav&gt;, &lt;main&gt;, &lt;article&gt;, &lt;section&gt;, &lt;footer&gt; i &lt;time&gt;. Quins usa bé? Quins substituiries?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5196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73152" cy="123444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2" y="4416552"/>
            <a:ext cx="263347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Temps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15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25196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69080" y="4251960"/>
            <a:ext cx="73152" cy="123444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4416552"/>
            <a:ext cx="263347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Format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Grups de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251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251960"/>
            <a:ext cx="73152" cy="123444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25512" y="4416552"/>
            <a:ext cx="295351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Resultat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Captura + 5 conclusions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3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FFFFFF"/>
                </a:solidFill>
                <a:latin typeface="Aptos"/>
              </a:rPr>
              <a:t>4 · XML: MENYS VISIBLE, PERÒ ENCARA RELLEVANT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1051560"/>
            <a:ext cx="2194560" cy="2194560"/>
          </a:xfrm>
          <a:prstGeom prst="ellipse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7680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4 · XML: menys visible, però encara rellevant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DDCE6"/>
                </a:solidFill>
                <a:latin typeface="Aptos"/>
              </a:rPr>
              <a:t>No domina les APIs web modernes, però continua sent clau en documents, integració, estàndards i ecosistemes concrets.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XML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XML: dades estructurades amb vocabulari extensible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577840" cy="3749039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52120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XML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5175503" cy="3227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EF2"/>
                </a:solidFill>
                <a:latin typeface="Aptos Mono"/>
              </a:rPr>
              <a:t>&lt;?xml version="1.0" encoding="UTF-8"?&gt;
&lt;alumnes curs="2026-27"&gt;
  &lt;alumne id="a17"&gt;
    &lt;nom&gt;Aina&lt;/nom&gt;
    &lt;modul&gt;LMSGI&lt;/modul&gt;
    &lt;nota&gt;8.5&lt;/nota&gt;
  &lt;/alumne&gt;
&lt;/alumnes&gt;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28800"/>
            <a:ext cx="4663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73152" cy="105156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93992" y="1993392"/>
            <a:ext cx="427939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Ben format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Una arrel, etiquetes correctament niades, atributs entre cometes...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063240"/>
            <a:ext cx="4663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0" y="3063240"/>
            <a:ext cx="73152" cy="1051560"/>
          </a:xfrm>
          <a:prstGeom prst="rect">
            <a:avLst/>
          </a:prstGeom>
          <a:solidFill>
            <a:srgbClr val="23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93992" y="3227832"/>
            <a:ext cx="427939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Vàlid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A més, compleix una gramàtica/esquema: DTD, XSD, RELAX NG...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297680"/>
            <a:ext cx="4663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0" y="4297680"/>
            <a:ext cx="73152" cy="105156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93992" y="4462272"/>
            <a:ext cx="427939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Namespaces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Permeten combinar vocabularis XML sense col·lisions de noms.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XML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On trobem XML de veritat?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73152" cy="150876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295351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SVG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Gràfics vectorials dins de la web i eines de disseny.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8288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1828800"/>
            <a:ext cx="73152" cy="150876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1993392"/>
            <a:ext cx="295351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RSS / Atom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Sindicació de continguts, podcasts i feeds.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8288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1828800"/>
            <a:ext cx="73152" cy="1508760"/>
          </a:xfrm>
          <a:prstGeom prst="rect">
            <a:avLst/>
          </a:prstGeom>
          <a:solidFill>
            <a:srgbClr val="23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28432" y="1993392"/>
            <a:ext cx="295351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Office Open XML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DOCX, XLSX i PPTX són contenidors ZIP amb molts fitxers XML.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73152" cy="150876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822191"/>
            <a:ext cx="295351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Maven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pom.xml descriu dependències i construcció en projectes Java.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657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60" y="3657600"/>
            <a:ext cx="73152" cy="1508760"/>
          </a:xfrm>
          <a:prstGeom prst="rect">
            <a:avLst/>
          </a:prstGeom>
          <a:solidFill>
            <a:srgbClr val="5AA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62272" y="3822191"/>
            <a:ext cx="295351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Android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Encara és habitual en layouts, recursos i manifests.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657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18120" y="3657600"/>
            <a:ext cx="73152" cy="150876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28432" y="3822191"/>
            <a:ext cx="295351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SOAP / estàndards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252D34"/>
                </a:solidFill>
                <a:latin typeface="Aptos"/>
              </a:rPr>
              <a:t>Integració empresarial, administracions i protocols amb esquemes forts.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XML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Validar és convertir una estructura en un contracte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577840" cy="3520440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52120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FRAGMENT XSD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5175503" cy="2999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EEF2"/>
                </a:solidFill>
                <a:latin typeface="Aptos Mono"/>
              </a:rPr>
              <a:t>&lt;xs:element name="nota"&gt;
  &lt;xs:simpleType&gt;
    &lt;xs:restriction base="xs:decimal"&gt;
      &lt;xs:minInclusive value="0"/&gt;
      &lt;xs:maxInclusive value="10"/&gt;
    &lt;/xs:restriction&gt;
  &lt;/xs:simpleType&gt;
&lt;/xs:element&gt;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2880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73152" cy="1051560"/>
          </a:xfrm>
          <a:prstGeom prst="rect">
            <a:avLst/>
          </a:prstGeom>
          <a:solidFill>
            <a:srgbClr val="C54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93992" y="1993392"/>
            <a:ext cx="418795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Sense esquema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«nota» pot contindre pràcticament qualsevol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10896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0" y="3108960"/>
            <a:ext cx="73152" cy="105156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93992" y="3273552"/>
            <a:ext cx="418795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Amb esquema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Podem exigir tipus, rangs, obligatorietat, ordre i cardinalitat.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38912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0" y="4389120"/>
            <a:ext cx="73152" cy="105156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93992" y="4553712"/>
            <a:ext cx="418795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Idea transferible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El mateix concepte reapareix en JSON Schema, OpenAPI i validació de configuracions.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ACTIVITAT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Activitat 3 · Trenca l’XML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C76"/>
                </a:solidFill>
                <a:latin typeface="Aptos"/>
              </a:rPr>
              <a:t>Aplicació immediata del que acabem de veure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84831"/>
            <a:ext cx="10287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3293D"/>
                </a:solidFill>
                <a:latin typeface="Aptos"/>
              </a:rPr>
              <a:t>A partir d’un XML correcte, crea quatre errors diferents: etiqueta mal tancada, dues arrels, atribut sense cometes i estructura que no complisca l’esquema. Classifica: «no ben format» o «no vàlid».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5196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73152" cy="123444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2" y="4416552"/>
            <a:ext cx="263347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Temps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12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25196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69080" y="4251960"/>
            <a:ext cx="73152" cy="123444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4416552"/>
            <a:ext cx="263347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Format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Parelles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251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251960"/>
            <a:ext cx="73152" cy="123444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25512" y="4416552"/>
            <a:ext cx="295351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Resultat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4 errors + classificació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3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FFFFFF"/>
                </a:solidFill>
                <a:latin typeface="Aptos"/>
              </a:rPr>
              <a:t>5 · FORMATS QUE L’ALUMNAT VEURÀ CADA DIA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21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1051560"/>
            <a:ext cx="2194560" cy="2194560"/>
          </a:xfrm>
          <a:prstGeom prst="ellipse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7680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5 · Formats que l’alumnat veurà cada 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DDCE6"/>
                </a:solidFill>
                <a:latin typeface="Aptos"/>
              </a:rPr>
              <a:t>JSON, YAML, TOML i Markdown no substitueixen HTML/XML: resolen altres problemes i conviuen amb ells.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JSON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JSON: el format quotidià de les APIs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3749039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RESPOSTA D’UNA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4809744" cy="3227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EF2"/>
                </a:solidFill>
                <a:latin typeface="Aptos Mono"/>
              </a:rPr>
              <a:t>{
  "id": 17,
  "nom": "Aina",
  "actiu": true,
  "moduls": ["LMSGI", "Programació"],
  "contacte": {
    "email": "aina@example.org"
  }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4800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73152" cy="105156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993392"/>
            <a:ext cx="441655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Tipus simples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string · number · boolean · null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63240"/>
            <a:ext cx="4800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3063240"/>
            <a:ext cx="73152" cy="105156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3227832"/>
            <a:ext cx="441655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Tipus estructurats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objectes { } i arrays [ 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297680"/>
            <a:ext cx="4800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4297680"/>
            <a:ext cx="73152" cy="105156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4462272"/>
            <a:ext cx="441655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Fortalesa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Sintaxi mínima i suport pràcticament universal en llenguatges i APIs.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COMPARACIÓ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XML o JSON? Depén del problema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663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388620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993392"/>
            <a:ext cx="4782312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3293D"/>
                </a:solidFill>
                <a:latin typeface="Aptos"/>
              </a:rPr>
              <a:t>XML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✓ Documents mixtos i vocabularis extensibles
✓ Namespaces
✓ Ecosistema madur d’esquemes i transformacions
✓ Estàndards empresarials/documentals
− Més verbós per a dades simples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1663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73152" cy="388620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993392"/>
            <a:ext cx="4782312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3293D"/>
                </a:solidFill>
                <a:latin typeface="Aptos"/>
              </a:rPr>
              <a:t>JSON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✓ Natural per a objectes i arrays
✓ Molt compacte
✓ Ideal per a APIs web i JavaScript
✓ Ecosistema modern enorme
− Menys adequat per a document mixt i namespaces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YAML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YAML: serialització llegible, molt usada per configurar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3337560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DOCKER-COMPOSE.YML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4809744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E8EEF2"/>
                </a:solidFill>
                <a:latin typeface="Aptos Mono"/>
              </a:rPr>
              <a:t>services:
  web:
    image: nginx:alpine
    ports:
      - "8080:80"
    environment:
      APP_ENV: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4800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73152" cy="105156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993392"/>
            <a:ext cx="441655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On apareix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Docker Compose, Kubernetes, GitHub Actions, Ansible, CI/CD...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63240"/>
            <a:ext cx="4800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3063240"/>
            <a:ext cx="73152" cy="105156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3227832"/>
            <a:ext cx="441655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Avantatge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Molt llegible quan la jerarquia és moderada.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297680"/>
            <a:ext cx="4800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4297680"/>
            <a:ext cx="73152" cy="1051560"/>
          </a:xfrm>
          <a:prstGeom prst="rect">
            <a:avLst/>
          </a:prstGeom>
          <a:solidFill>
            <a:srgbClr val="C54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4462272"/>
            <a:ext cx="441655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Perill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La indentació és significativa; petits canvis poden alterar l’estructura.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TOML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TOML: configuració explícita i previsible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3337560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PYPROJECT.TOML / CONFIGURACIÓ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4809744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E8EEF2"/>
                </a:solidFill>
                <a:latin typeface="Aptos Mono"/>
              </a:rPr>
              <a:t>[project]
name = "exemple-lmsgi"
version = "1.0.0"
[tool.app]
debug = true
ports = [8000, 8001]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4800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73152" cy="114300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993392"/>
            <a:ext cx="44165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Objectiu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Format mínim de configuració, fàcil de llegir i mapar a estructures clau-valor.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246120"/>
            <a:ext cx="4800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3246120"/>
            <a:ext cx="73152" cy="114300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3410712"/>
            <a:ext cx="44165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On apareix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pyproject.toml, Cargo.toml (Rust) i moltes eines modernes.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663440"/>
            <a:ext cx="4800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4663440"/>
            <a:ext cx="73152" cy="114300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4828031"/>
            <a:ext cx="44165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Comparació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Menys flexible que YAML, però sovint més previsible per a configuració.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MARKDOWN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Markdown: documentació com a text pla versionable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394960" cy="4160520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21408"/>
            <a:ext cx="4992624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EF2"/>
                </a:solidFill>
                <a:latin typeface="Aptos Mono"/>
              </a:rPr>
              <a:t># Pràctica 1
## Objectiu
Consumir una **API REST**.
```bash
curl https://api.exemple.org/alumnes
```
- [ ] Fer la petició
- [ ] Analitzar el 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73152" cy="109728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1993392"/>
            <a:ext cx="4279392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GitHub / GitLab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README, issues, documentació i wikis.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5468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3154680"/>
            <a:ext cx="73152" cy="109728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3319272"/>
            <a:ext cx="4279392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Docs as code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La documentació pot passar per Git, revisions i CI com el codi.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48056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4480560"/>
            <a:ext cx="73152" cy="109728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1112" y="4645152"/>
            <a:ext cx="4279392" cy="80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Matís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Markdown no és un únic dialecte; CommonMark intenta fixar una base interoperable.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ACTIVITAT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Activitat 4 · Una dada, quatre formats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C76"/>
                </a:solidFill>
                <a:latin typeface="Aptos"/>
              </a:rPr>
              <a:t>Aplicació immediata del que acabem de veure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84831"/>
            <a:ext cx="10287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3293D"/>
                </a:solidFill>
                <a:latin typeface="Aptos"/>
              </a:rPr>
              <a:t>Representa la mateixa informació —un alumne amb nom, edat, mòduls i correu— en XML, JSON, YAML i TOML. Després respon: quin és més llegible? quin és més verbós? quin validaries amb més facilitat?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5196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73152" cy="123444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2" y="4416552"/>
            <a:ext cx="263347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Temps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20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25196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69080" y="4251960"/>
            <a:ext cx="73152" cy="123444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4416552"/>
            <a:ext cx="263347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Format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Grups de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251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251960"/>
            <a:ext cx="73152" cy="123444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25512" y="4416552"/>
            <a:ext cx="295351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Resultat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Comparativa en una taula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3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FFFFFF"/>
                </a:solidFill>
                <a:latin typeface="Aptos"/>
              </a:rPr>
              <a:t>6 · DE FITXERS A SISTEMES D’INFORMACIÓ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28</a:t>
            </a:r>
          </a:p>
        </p:txBody>
      </p:sp>
      <p:sp>
        <p:nvSpPr>
          <p:cNvPr id="6" name="Oval 5"/>
          <p:cNvSpPr/>
          <p:nvPr/>
        </p:nvSpPr>
        <p:spPr>
          <a:xfrm>
            <a:off x="8869680" y="1051560"/>
            <a:ext cx="2194560" cy="2194560"/>
          </a:xfrm>
          <a:prstGeom prst="ellipse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7680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6 · De fitxers a sistemes d’informació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DDCE6"/>
                </a:solidFill>
                <a:latin typeface="Aptos"/>
              </a:rPr>
              <a:t>Els formats tenen sentit quan viatgen entre aplicacions, APIs, bases de dades, navegadors i eines.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SISTEMES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El mateix sistema pot usar molts formats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828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73152" cy="196596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404872"/>
            <a:ext cx="1444752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Navegador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HTML
CSS
JSON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0592" y="2834640"/>
            <a:ext cx="411480" cy="502920"/>
          </a:xfrm>
          <a:prstGeom prst="rightArrow">
            <a:avLst/>
          </a:prstGeom>
          <a:solidFill>
            <a:srgbClr val="DD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0360" y="2240280"/>
            <a:ext cx="1828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0360" y="2240280"/>
            <a:ext cx="73152" cy="196596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2404872"/>
            <a:ext cx="1444752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API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JSON
OpenAPI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82312" y="2834640"/>
            <a:ext cx="411480" cy="502920"/>
          </a:xfrm>
          <a:prstGeom prst="rightArrow">
            <a:avLst/>
          </a:prstGeom>
          <a:solidFill>
            <a:srgbClr val="DD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12080" y="2240280"/>
            <a:ext cx="1828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12080" y="2240280"/>
            <a:ext cx="73152" cy="196596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22392" y="2404872"/>
            <a:ext cx="1444752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Backend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JSON
XML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14032" y="2834640"/>
            <a:ext cx="411480" cy="502920"/>
          </a:xfrm>
          <a:prstGeom prst="rightArrow">
            <a:avLst/>
          </a:prstGeom>
          <a:solidFill>
            <a:srgbClr val="DD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543800" y="2240280"/>
            <a:ext cx="1828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43800" y="2240280"/>
            <a:ext cx="73152" cy="196596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54112" y="2404872"/>
            <a:ext cx="1444752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Config.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YAML
TOML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45752" y="2834640"/>
            <a:ext cx="411480" cy="502920"/>
          </a:xfrm>
          <a:prstGeom prst="rightArrow">
            <a:avLst/>
          </a:prstGeom>
          <a:solidFill>
            <a:srgbClr val="DD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875520" y="2240280"/>
            <a:ext cx="1828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75520" y="2240280"/>
            <a:ext cx="73152" cy="1965960"/>
          </a:xfrm>
          <a:prstGeom prst="rect">
            <a:avLst/>
          </a:prstGeom>
          <a:solidFill>
            <a:srgbClr val="23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85832" y="2404872"/>
            <a:ext cx="1444752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Docs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Markdown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920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13293D"/>
                </a:solidFill>
                <a:latin typeface="Aptos"/>
              </a:rPr>
              <a:t>La competència important no és memoritzar sintaxi: és saber identificar l’estructura i triar/transformar el format adequat.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SISTEMES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Exemple realista: una API 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486400" cy="4160520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5120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HTTP +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5084064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EEF2"/>
                </a:solidFill>
                <a:latin typeface="Aptos Mono"/>
              </a:rPr>
              <a:t>GET /api/productes/42
Accept: application/json
HTTP/1.1 200 OK
Content-Type: application/json
{
  "id": 42,
  "nom": "Teclat mecànic",
  "preu": 79.90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1828800"/>
            <a:ext cx="73152" cy="1051560"/>
          </a:xfrm>
          <a:prstGeom prst="rect">
            <a:avLst/>
          </a:prstGeom>
          <a:solidFill>
            <a:srgbClr val="23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02552" y="1993392"/>
            <a:ext cx="418795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Protocol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HTTP transporta la petició i la resposta.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06324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3063240"/>
            <a:ext cx="73152" cy="105156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3227832"/>
            <a:ext cx="418795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Metadades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Content-Type indica com interpretar el 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29768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92240" y="4297680"/>
            <a:ext cx="73152" cy="105156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02552" y="4462272"/>
            <a:ext cx="4187952" cy="758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Serialització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JSON representa les dades de la resposta.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SEMÀNTICA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JSON-LD: quan JSON també necessita significat compartit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486400" cy="3749039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5120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JSON-LD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5084064" cy="3227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EEF2"/>
                </a:solidFill>
                <a:latin typeface="Aptos Mono"/>
              </a:rPr>
              <a:t>{
  "@context": "https://schema.org",
  "@type": "Course",
  "name": "Llenguatges de marques",
  "provider": {
    "@type": "EducationalOrganization",
    "name": "IES l’Estació"
  }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4572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1828800"/>
            <a:ext cx="73152" cy="1143000"/>
          </a:xfrm>
          <a:prstGeom prst="rect">
            <a:avLst/>
          </a:prstGeom>
          <a:solidFill>
            <a:srgbClr val="C54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02552" y="1993392"/>
            <a:ext cx="4187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Problema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En JSON, «name» o «provider» no tenen un significat universal per si sols.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246120"/>
            <a:ext cx="4572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3246120"/>
            <a:ext cx="73152" cy="114300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2552" y="3410712"/>
            <a:ext cx="4187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Context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JSON-LD associa les claus amb vocabularis i identificadors compartits.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663440"/>
            <a:ext cx="4572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92240" y="4663440"/>
            <a:ext cx="73152" cy="114300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02552" y="4828031"/>
            <a:ext cx="418795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Aplicació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252D34"/>
                </a:solidFill>
                <a:latin typeface="Aptos"/>
              </a:rPr>
              <a:t>Dades enllaçades i dades estructurades al web.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ACTIVITAT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Activitat 5 · Quin format triaries?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C76"/>
                </a:solidFill>
                <a:latin typeface="Aptos"/>
              </a:rPr>
              <a:t>Aplicació immediata del que acabem de veure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84831"/>
            <a:ext cx="10287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3293D"/>
                </a:solidFill>
                <a:latin typeface="Aptos"/>
              </a:rPr>
              <a:t>Decidiu el format principal per a: (1) una pàgina web accessible, (2) resposta d’una API, (3) pipeline de GitHub Actions, (4) configuració d’un projecte Python, (5) feed d’un podcast, (6) documentació d’un repositori. Justifiqueu cada decisió.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5196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4251960"/>
            <a:ext cx="73152" cy="123444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2" y="4416552"/>
            <a:ext cx="263347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Temps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20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25196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69080" y="4251960"/>
            <a:ext cx="73152" cy="123444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4416552"/>
            <a:ext cx="263347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Format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Equips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251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4251960"/>
            <a:ext cx="73152" cy="123444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25512" y="4416552"/>
            <a:ext cx="295351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293D"/>
                </a:solidFill>
                <a:latin typeface="Aptos"/>
              </a:rPr>
              <a:t>Resultat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52D34"/>
                </a:solidFill>
                <a:latin typeface="Aptos"/>
              </a:rPr>
              <a:t>6 decisions justificades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TREBALL AUTÒNOM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Treball per a casa · Radiografia d’un repositori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515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252D34"/>
                </a:solidFill>
                <a:latin typeface="Aptos"/>
              </a:rPr>
              <a:t>• Tria un repositori públic d’una aplicació web.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52D34"/>
                </a:solidFill>
                <a:latin typeface="Aptos"/>
              </a:rPr>
              <a:t>• Localitza almenys 4 fitxers de formats diferents: .html, .json, .yaml/.yml, .toml, .xml, .md...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52D34"/>
                </a:solidFill>
                <a:latin typeface="Aptos"/>
              </a:rPr>
              <a:t>• Per a cada fitxer: indica la funció, descriu l’estructura i copia un fragment curt.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52D34"/>
                </a:solidFill>
                <a:latin typeface="Aptos"/>
              </a:rPr>
              <a:t>• Explica per què creus que s’ha triat eixe format i no un altre.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52D34"/>
                </a:solidFill>
                <a:latin typeface="Aptos"/>
              </a:rPr>
              <a:t>• Tanca amb una comparació de 8–10 línies: «què aporta cada format al projecte?»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5623560"/>
            <a:ext cx="2926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38160" y="5623560"/>
            <a:ext cx="73152" cy="68580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48472" y="5788152"/>
            <a:ext cx="25420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3293D"/>
                </a:solidFill>
                <a:latin typeface="Aptos"/>
              </a:rPr>
              <a:t>Lliurament</a:t>
            </a:r>
          </a:p>
          <a:p>
            <a:pPr>
              <a:spcBef>
                <a:spcPts val="700"/>
              </a:spcBef>
            </a:pPr>
            <a:r>
              <a:rPr sz="1100">
                <a:solidFill>
                  <a:srgbClr val="252D34"/>
                </a:solidFill>
                <a:latin typeface="Aptos"/>
              </a:rPr>
              <a:t>1–2 pàgines o README.md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AVALUACIÓ FORMATIVA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Exit ticket · 5 minuts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73152" cy="338328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993392"/>
            <a:ext cx="2953512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3293D"/>
                </a:solidFill>
                <a:latin typeface="Aptos"/>
              </a:rPr>
              <a:t>1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252D34"/>
                </a:solidFill>
                <a:latin typeface="Aptos"/>
              </a:rPr>
              <a:t>Explica en una frase la diferència entre HTML i JSON.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73152" cy="338328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993392"/>
            <a:ext cx="2953512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3293D"/>
                </a:solidFill>
                <a:latin typeface="Aptos"/>
              </a:rPr>
              <a:t>2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252D34"/>
                </a:solidFill>
                <a:latin typeface="Aptos"/>
              </a:rPr>
              <a:t>Posa un cas real on XML continue sent una bona elecció.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73152" cy="338328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993392"/>
            <a:ext cx="2953512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3293D"/>
                </a:solidFill>
                <a:latin typeface="Aptos"/>
              </a:rPr>
              <a:t>3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252D34"/>
                </a:solidFill>
                <a:latin typeface="Aptos"/>
              </a:rPr>
              <a:t>Per què YAML no és «un XML modern»?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32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FFFFFF"/>
                </a:solidFill>
                <a:latin typeface="Aptos"/>
              </a:rPr>
              <a:t>RESUM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"/>
              </a:rPr>
              <a:t>Mapa mental final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D2DCE4"/>
                </a:solidFill>
                <a:latin typeface="Aptos"/>
              </a:rPr>
              <a:t>No hi ha un «millor format»: hi ha formats adequats per a problemes diferents.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2057400" cy="2103120"/>
          </a:xfrm>
          <a:prstGeom prst="roundRect">
            <a:avLst/>
          </a:prstGeom>
          <a:solidFill>
            <a:srgbClr val="1E384E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73152" cy="210312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30552"/>
            <a:ext cx="1673352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Aptos"/>
              </a:rPr>
              <a:t>HTML</a:t>
            </a:r>
          </a:p>
          <a:p>
            <a:pPr>
              <a:spcBef>
                <a:spcPts val="700"/>
              </a:spcBef>
            </a:pPr>
            <a:r>
              <a:rPr sz="1300" dirty="0">
                <a:solidFill>
                  <a:schemeClr val="bg1"/>
                </a:solidFill>
                <a:latin typeface="Aptos"/>
              </a:rPr>
              <a:t>Web
</a:t>
            </a:r>
            <a:r>
              <a:rPr sz="1300" dirty="0" err="1">
                <a:solidFill>
                  <a:schemeClr val="bg1"/>
                </a:solidFill>
                <a:latin typeface="Aptos"/>
              </a:rPr>
              <a:t>estructura</a:t>
            </a:r>
            <a:r>
              <a:rPr sz="1300" dirty="0">
                <a:solidFill>
                  <a:schemeClr val="bg1"/>
                </a:solidFill>
                <a:latin typeface="Aptos"/>
              </a:rPr>
              <a:t> + </a:t>
            </a:r>
            <a:r>
              <a:rPr sz="1300" dirty="0" err="1">
                <a:solidFill>
                  <a:schemeClr val="bg1"/>
                </a:solidFill>
                <a:latin typeface="Aptos"/>
              </a:rPr>
              <a:t>semàntica</a:t>
            </a:r>
            <a:endParaRPr sz="130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80360" y="1965960"/>
            <a:ext cx="2057400" cy="2103120"/>
          </a:xfrm>
          <a:prstGeom prst="roundRect">
            <a:avLst/>
          </a:prstGeom>
          <a:solidFill>
            <a:srgbClr val="1E384E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0360" y="1965960"/>
            <a:ext cx="73152" cy="210312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2130552"/>
            <a:ext cx="1673352" cy="1149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Aptos"/>
              </a:rPr>
              <a:t>XML</a:t>
            </a:r>
          </a:p>
          <a:p>
            <a:pPr>
              <a:spcBef>
                <a:spcPts val="700"/>
              </a:spcBef>
            </a:pPr>
            <a:r>
              <a:rPr sz="1300" dirty="0">
                <a:solidFill>
                  <a:schemeClr val="bg1"/>
                </a:solidFill>
                <a:latin typeface="Aptos"/>
              </a:rPr>
              <a:t>Documents
</a:t>
            </a:r>
            <a:r>
              <a:rPr sz="1300" dirty="0" err="1">
                <a:solidFill>
                  <a:schemeClr val="bg1"/>
                </a:solidFill>
                <a:latin typeface="Aptos"/>
              </a:rPr>
              <a:t>estàndards</a:t>
            </a:r>
            <a:r>
              <a:rPr sz="1300" dirty="0">
                <a:solidFill>
                  <a:schemeClr val="bg1"/>
                </a:solidFill>
                <a:latin typeface="Aptos"/>
              </a:rPr>
              <a:t> + </a:t>
            </a:r>
            <a:r>
              <a:rPr sz="1300" dirty="0" err="1">
                <a:solidFill>
                  <a:schemeClr val="bg1"/>
                </a:solidFill>
                <a:latin typeface="Aptos"/>
              </a:rPr>
              <a:t>validació</a:t>
            </a:r>
            <a:endParaRPr sz="130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0" y="1965960"/>
            <a:ext cx="2057400" cy="2103120"/>
          </a:xfrm>
          <a:prstGeom prst="roundRect">
            <a:avLst/>
          </a:prstGeom>
          <a:solidFill>
            <a:srgbClr val="1E384E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0" y="1965960"/>
            <a:ext cx="73152" cy="210312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9512" y="2130552"/>
            <a:ext cx="1673352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Aptos"/>
              </a:rPr>
              <a:t>JSON</a:t>
            </a:r>
          </a:p>
          <a:p>
            <a:pPr>
              <a:spcBef>
                <a:spcPts val="700"/>
              </a:spcBef>
            </a:pPr>
            <a:r>
              <a:rPr sz="1300" dirty="0">
                <a:solidFill>
                  <a:schemeClr val="bg1"/>
                </a:solidFill>
                <a:latin typeface="Aptos"/>
              </a:rPr>
              <a:t>APIs
</a:t>
            </a:r>
            <a:r>
              <a:rPr sz="1300" dirty="0" err="1">
                <a:solidFill>
                  <a:schemeClr val="bg1"/>
                </a:solidFill>
                <a:latin typeface="Aptos"/>
              </a:rPr>
              <a:t>dades</a:t>
            </a:r>
            <a:r>
              <a:rPr sz="1300" dirty="0">
                <a:solidFill>
                  <a:schemeClr val="bg1"/>
                </a:solidFill>
                <a:latin typeface="Aptos"/>
              </a:rPr>
              <a:t> </a:t>
            </a:r>
            <a:r>
              <a:rPr sz="1300" dirty="0" err="1">
                <a:solidFill>
                  <a:schemeClr val="bg1"/>
                </a:solidFill>
                <a:latin typeface="Aptos"/>
              </a:rPr>
              <a:t>compactes</a:t>
            </a:r>
            <a:endParaRPr sz="130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178040" y="1965960"/>
            <a:ext cx="2057400" cy="2103120"/>
          </a:xfrm>
          <a:prstGeom prst="roundRect">
            <a:avLst/>
          </a:prstGeom>
          <a:solidFill>
            <a:srgbClr val="1E384E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78040" y="1965960"/>
            <a:ext cx="73152" cy="2103120"/>
          </a:xfrm>
          <a:prstGeom prst="rect">
            <a:avLst/>
          </a:prstGeom>
          <a:solidFill>
            <a:srgbClr val="77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88352" y="2130552"/>
            <a:ext cx="1673352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Aptos"/>
              </a:rPr>
              <a:t>YAML / TOML</a:t>
            </a:r>
          </a:p>
          <a:p>
            <a:pPr>
              <a:spcBef>
                <a:spcPts val="700"/>
              </a:spcBef>
            </a:pPr>
            <a:r>
              <a:rPr sz="1300" dirty="0" err="1">
                <a:solidFill>
                  <a:schemeClr val="bg1"/>
                </a:solidFill>
                <a:latin typeface="Aptos"/>
              </a:rPr>
              <a:t>Configuració</a:t>
            </a:r>
            <a:r>
              <a:rPr sz="1300" dirty="0">
                <a:solidFill>
                  <a:schemeClr val="bg1"/>
                </a:solidFill>
                <a:latin typeface="Aptos"/>
              </a:rPr>
              <a:t>
DevOps + </a:t>
            </a:r>
            <a:r>
              <a:rPr sz="1300" dirty="0" err="1">
                <a:solidFill>
                  <a:schemeClr val="bg1"/>
                </a:solidFill>
                <a:latin typeface="Aptos"/>
              </a:rPr>
              <a:t>eines</a:t>
            </a:r>
            <a:endParaRPr sz="130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326880" y="1965960"/>
            <a:ext cx="2057400" cy="2103120"/>
          </a:xfrm>
          <a:prstGeom prst="roundRect">
            <a:avLst/>
          </a:prstGeom>
          <a:solidFill>
            <a:srgbClr val="1E384E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1965960"/>
            <a:ext cx="73152" cy="2103120"/>
          </a:xfrm>
          <a:prstGeom prst="rect">
            <a:avLst/>
          </a:prstGeom>
          <a:solidFill>
            <a:srgbClr val="23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37192" y="2130552"/>
            <a:ext cx="1673352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chemeClr val="bg1"/>
                </a:solidFill>
                <a:latin typeface="Aptos"/>
              </a:rPr>
              <a:t>Markdown</a:t>
            </a:r>
          </a:p>
          <a:p>
            <a:pPr>
              <a:spcBef>
                <a:spcPts val="700"/>
              </a:spcBef>
            </a:pPr>
            <a:r>
              <a:rPr sz="1300" dirty="0" err="1">
                <a:solidFill>
                  <a:schemeClr val="bg1"/>
                </a:solidFill>
                <a:latin typeface="Aptos"/>
              </a:rPr>
              <a:t>Documentació</a:t>
            </a:r>
            <a:r>
              <a:rPr sz="1300" dirty="0">
                <a:solidFill>
                  <a:schemeClr val="bg1"/>
                </a:solidFill>
                <a:latin typeface="Aptos"/>
              </a:rPr>
              <a:t>
text + Git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Llegir estructura → entendre el context → validar → transformar → intercanviar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EXEMPLE GUIAT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Exemple opcional · Un SVG és XML que es converteix en una imatge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C76"/>
                </a:solidFill>
                <a:latin typeface="Aptos"/>
              </a:rPr>
              <a:t>Obri el fitxer amb un editor de text i després amb el navegador.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5577840" cy="4114800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52120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EXEMPLE.SVG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67128"/>
            <a:ext cx="5175503" cy="3593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E8EEF2"/>
                </a:solidFill>
                <a:latin typeface="Aptos Mono"/>
              </a:rPr>
              <a:t>&lt;svg xmlns="http://www.w3.org/2000/svg"
     width="300" height="180" viewBox="0 0 300 180"&gt;
  &lt;rect width="300" height="180" rx="18" fill="#eef5f8"/&gt;
  &lt;circle cx="90" cy="90" r="48" fill="#26a6b4"/&gt;
  &lt;rect x="160" y="50" width="95" height="80" rx="10" fill="#2b8c78"/&gt;
  &lt;text x="150" y="165" text-anchor="middle"&gt;LMSGI · SVG&lt;/text&gt;
&lt;/svg&gt;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874519"/>
            <a:ext cx="4846320" cy="3154680"/>
          </a:xfrm>
          <a:prstGeom prst="roundRect">
            <a:avLst/>
          </a:prstGeom>
          <a:solidFill>
            <a:srgbClr val="EEF5F8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178040" y="2514600"/>
            <a:ext cx="1325880" cy="1325880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23960" y="2487168"/>
            <a:ext cx="1600200" cy="1371600"/>
          </a:xfrm>
          <a:prstGeom prst="round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431596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52D34"/>
                </a:solidFill>
                <a:latin typeface="Aptos"/>
              </a:rPr>
              <a:t>LMSGI · SVG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5257800"/>
            <a:ext cx="4846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37960" y="5257800"/>
            <a:ext cx="73152" cy="73152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48272" y="5404104"/>
            <a:ext cx="44622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Prova guiada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52D34"/>
                </a:solidFill>
                <a:latin typeface="Aptos"/>
              </a:rPr>
              <a:t>Guarda com a exemple.svg → obri en VS Code → obri també en Chrome/Firefox. Canvia r, fill, width o text.</a:t>
            </a:r>
          </a:p>
        </p:txBody>
      </p:sp>
      <p:sp>
        <p:nvSpPr>
          <p:cNvPr id="18" name="Oval 17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EXEMPLE GUIAT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Exemple opcional · XML per a sindicació (Atom)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C76"/>
                </a:solidFill>
                <a:latin typeface="Aptos"/>
              </a:rPr>
              <a:t>Un feed és un document XML que descriu contingut actualitzat periòdicament.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55648"/>
            <a:ext cx="5806440" cy="4434840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5440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FEED.XML / ATOM.XML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39696"/>
            <a:ext cx="5404103" cy="3913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8EEF2"/>
                </a:solidFill>
                <a:latin typeface="Aptos Mono"/>
              </a:rPr>
              <a:t>&lt;?xml version="1.0" encoding="utf-8"?&gt;
&lt;feed xmlns="http://www.w3.org/2005/Atom"&gt;
  &lt;title&gt;Notícies IES l’Estació&lt;/title&gt;
  &lt;link href="https://exemple.org/"/&gt;
  &lt;updated&gt;2026-09-12T12:00:00Z&lt;/updated&gt;
  &lt;id&gt;https://exemple.org/feed&lt;/id&gt;
  &lt;entry&gt;
    &lt;title&gt;Inici de curs&lt;/title&gt;
    &lt;link href="https://exemple.org/inici-curs"/&gt;
    &lt;id&gt;https://exemple.org/inici-curs&lt;/id&gt;
    &lt;updated&gt;2026-09-12T10:00:00Z&lt;/updated&gt;
    &lt;summary&gt;Informació per a l’alumnat.&lt;/summary&gt;
  &lt;/entry&gt;
&lt;/feed&gt;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82880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75120" y="1828800"/>
            <a:ext cx="73152" cy="105156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85432" y="1975104"/>
            <a:ext cx="4187952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Què mirar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52D34"/>
                </a:solidFill>
                <a:latin typeface="Aptos"/>
              </a:rPr>
              <a:t>&lt;feed&gt; és l’arrel; &lt;entry&gt; representa una entrada; title, link, updated i id són dades estructurades.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10896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3108960"/>
            <a:ext cx="73152" cy="105156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85432" y="3255264"/>
            <a:ext cx="4187952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Prova guiada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52D34"/>
                </a:solidFill>
                <a:latin typeface="Aptos"/>
              </a:rPr>
              <a:t>Guarda’l com feed.xml i obri’l en un navegador o editor. Identifica jerarquia i namespace.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389120"/>
            <a:ext cx="4572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75120" y="4389120"/>
            <a:ext cx="73152" cy="105156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85432" y="4535424"/>
            <a:ext cx="4187952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Per aprofundir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52D34"/>
                </a:solidFill>
                <a:latin typeface="Aptos"/>
              </a:rPr>
              <a:t>Busca «Atom feed example RFC 4287» o usa el Feed Validator del W3C.</a:t>
            </a:r>
          </a:p>
        </p:txBody>
      </p:sp>
      <p:sp>
        <p:nvSpPr>
          <p:cNvPr id="20" name="Oval 19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EXEMPLE GUIAT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Exemple opcional · Markdown en un README.md de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C76"/>
                </a:solidFill>
                <a:latin typeface="Aptos"/>
              </a:rPr>
              <a:t>El mateix fitxer és text pla en l’editor i document formatat quan GitHub el renderitza.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074920" cy="3886200"/>
          </a:xfrm>
          <a:prstGeom prst="roundRect">
            <a:avLst/>
          </a:prstGeom>
          <a:solidFill>
            <a:srgbClr val="191F26"/>
          </a:solidFill>
          <a:ln>
            <a:solidFill>
              <a:srgbClr val="343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470915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6A6B4"/>
                </a:solidFill>
                <a:latin typeface="Aptos"/>
              </a:rPr>
              <a:t>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12848"/>
            <a:ext cx="4672583" cy="3364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8EEF2"/>
                </a:solidFill>
                <a:latin typeface="Aptos Mono"/>
              </a:rPr>
              <a:t># Projecte LMSGI
Exemple per a **1r DAW**.
## Posada en marxa
```bash
npm install
npm run dev
```
## Tasques
- [x] Crear repositori
- [ ] Documentar l’API
Consulta [la documentació](docs/index.md).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828800"/>
            <a:ext cx="51663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828800"/>
            <a:ext cx="73152" cy="3886200"/>
          </a:xfrm>
          <a:prstGeom prst="rect">
            <a:avLst/>
          </a:prstGeom>
          <a:solidFill>
            <a:srgbClr val="23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1975104"/>
            <a:ext cx="478231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Projecte LMSGI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52D34"/>
                </a:solidFill>
                <a:latin typeface="Aptos"/>
              </a:rPr>
              <a:t>Exemple per a 1r DAW.
POSADA EN MARXA
npm install
npm run dev
TASQUES
☑ Crear repositori
☐ Documentar l’API
Consulta la documentació.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606C76"/>
                </a:solidFill>
                <a:latin typeface="Aptos"/>
              </a:rPr>
              <a:t>Prova: crea un repositori → Add a README → edita README.md → compara la pestanya Code amb l’edició en brut.</a:t>
            </a:r>
          </a:p>
        </p:txBody>
      </p:sp>
      <p:sp>
        <p:nvSpPr>
          <p:cNvPr id="15" name="Oval 1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EXEMPLES GUIATS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Fitxers que poden obrir i inspeccionar sense haver estat a classe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44475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C76"/>
                </a:solidFill>
                <a:latin typeface="Aptos"/>
              </a:rPr>
              <a:t>La idea és que cada exemple tinga una ruta mínima: «on el trobe → amb què l’òbric → què he de mirar».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6060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73152" cy="3520440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975104"/>
            <a:ext cx="2221992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SVG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52D34"/>
                </a:solidFill>
                <a:latin typeface="Aptos"/>
              </a:rPr>
              <a:t>exemple.svg
Editor + navegador
Busca: &lt;svg&gt;, &lt;rect&gt;, &lt;circle&gt;, &lt;text&gt;.
Modifica atributs i comprova el resultat.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060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73152" cy="3520440"/>
          </a:xfrm>
          <a:prstGeom prst="rect">
            <a:avLst/>
          </a:prstGeom>
          <a:solidFill>
            <a:srgbClr val="2B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975104"/>
            <a:ext cx="2221992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Atom / XML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52D34"/>
                </a:solidFill>
                <a:latin typeface="Aptos"/>
              </a:rPr>
              <a:t>feed.xml
Editor + navegador
Busca: &lt;feed&gt;, &lt;entry&gt;, namespace, dates i enllaços.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26060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73152" cy="3520440"/>
          </a:xfrm>
          <a:prstGeom prst="rect">
            <a:avLst/>
          </a:prstGeom>
          <a:solidFill>
            <a:srgbClr val="236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975104"/>
            <a:ext cx="2221992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Markdown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52D34"/>
                </a:solidFill>
                <a:latin typeface="Aptos"/>
              </a:rPr>
              <a:t>README.md
GitHub + editor
Compara text font amb renderitzat: #, **, ``` i llistes.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828800"/>
            <a:ext cx="26060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98280" y="1828800"/>
            <a:ext cx="73152" cy="3520440"/>
          </a:xfrm>
          <a:prstGeom prst="rect">
            <a:avLst/>
          </a:prstGeom>
          <a:solidFill>
            <a:srgbClr val="E08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08592" y="1975104"/>
            <a:ext cx="2221992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3293D"/>
                </a:solidFill>
                <a:latin typeface="Aptos"/>
              </a:rPr>
              <a:t>YAML / TOML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52D34"/>
                </a:solidFill>
                <a:latin typeface="Aptos"/>
              </a:rPr>
              <a:t>compose.yaml
pyproject.toml
VS Code
Observa jerarquia, indentació, claus, valors i arrays.</a:t>
            </a:r>
          </a:p>
        </p:txBody>
      </p:sp>
      <p:sp>
        <p:nvSpPr>
          <p:cNvPr id="20" name="Oval 19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06C76"/>
                </a:solidFill>
                <a:latin typeface="Aptos"/>
              </a:rPr>
              <a:t>IES L’ESTACIÓ · DAW · LMSGI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64592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06C76"/>
                </a:solidFill>
                <a:latin typeface="Aptos"/>
              </a:rPr>
              <a:t>REFERÈNCIES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347472" cy="347472"/>
          </a:xfrm>
          <a:prstGeom prst="ellipse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293D"/>
                </a:solidFill>
                <a:latin typeface="Aptos"/>
              </a:rPr>
              <a:t>Fonts tècniques per mantindre el material actualitzat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1298448"/>
            <a:ext cx="960120" cy="64008"/>
          </a:xfrm>
          <a:prstGeom prst="rect">
            <a:avLst/>
          </a:prstGeom>
          <a:solidFill>
            <a:srgbClr val="26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93D"/>
                </a:solidFill>
                <a:latin typeface="Aptos"/>
              </a:rPr>
              <a:t>HTML Living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73736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699B"/>
                </a:solidFill>
                <a:latin typeface="Aptos Mono"/>
              </a:rPr>
              <a:t>https://html.spec.whatwg.org/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93D"/>
                </a:solidFill>
                <a:latin typeface="Aptos"/>
              </a:rPr>
              <a:t>XML 1.0 (W3C)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313432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699B"/>
                </a:solidFill>
                <a:latin typeface="Aptos Mono"/>
              </a:rPr>
              <a:t>https://www.w3.org/TR/xml/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950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93D"/>
                </a:solidFill>
                <a:latin typeface="Aptos"/>
              </a:rPr>
              <a:t>JSON · RFC 8259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889504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699B"/>
                </a:solidFill>
                <a:latin typeface="Aptos Mono"/>
              </a:rPr>
              <a:t>https://www.rfc-editor.org/rfc/rfc8259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65576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93D"/>
                </a:solidFill>
                <a:latin typeface="Aptos"/>
              </a:rPr>
              <a:t>YAML 1.2.2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465576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699B"/>
                </a:solidFill>
                <a:latin typeface="Aptos Mono"/>
              </a:rPr>
              <a:t>https://yaml.org/spec/1.2.2/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4164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93D"/>
                </a:solidFill>
                <a:latin typeface="Aptos"/>
              </a:rPr>
              <a:t>TOML 1.0.0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041648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699B"/>
                </a:solidFill>
                <a:latin typeface="Aptos Mono"/>
              </a:rPr>
              <a:t>https://toml.io/en/v1.0.0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93D"/>
                </a:solidFill>
                <a:latin typeface="Aptos"/>
              </a:rPr>
              <a:t>CommonMark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617720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699B"/>
                </a:solidFill>
                <a:latin typeface="Aptos Mono"/>
              </a:rPr>
              <a:t>https://spec.commonmark.org/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937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3293D"/>
                </a:solidFill>
                <a:latin typeface="Aptos"/>
              </a:rPr>
              <a:t>JSON-LD 1.1 (W3C)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193792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699B"/>
                </a:solidFill>
                <a:latin typeface="Aptos Mono"/>
              </a:rPr>
              <a:t>https://www.w3.org/TR/json-ld/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3692</Words>
  <Application>Microsoft Macintosh PowerPoint</Application>
  <PresentationFormat>Panorámica</PresentationFormat>
  <Paragraphs>441</Paragraphs>
  <Slides>40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5" baseType="lpstr">
      <vt:lpstr>Aptos</vt:lpstr>
      <vt:lpstr>Aptos Mono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 DOMENECH, FERRAN</cp:lastModifiedBy>
  <cp:revision>2</cp:revision>
  <dcterms:created xsi:type="dcterms:W3CDTF">2013-01-27T09:14:16Z</dcterms:created>
  <dcterms:modified xsi:type="dcterms:W3CDTF">2026-09-12T12:40:49Z</dcterms:modified>
  <cp:category/>
</cp:coreProperties>
</file>