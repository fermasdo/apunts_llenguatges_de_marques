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d’entrada: quina dada d’una fitxa de producte hauria de poder llegir una altra aplicació sense veure la web?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parelles, classifiqueu: TR-101, Teclat compacte, 39.90 EUR i disponible. Són identificador, contingut o context?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Demana: quin és el pare de preu? Quins elements són germans?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ràpida: convertiries nom en atribut? Raona la resposta. No és una regla absoluta: cal coherència.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Projecta &lt;cataleg&gt;&lt;producte&gt;&lt;nom&gt; i pregunta quin element es tanca primer.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fragment final és ben format, però no sabem si compleix totes les regles del negoci. No avances DTD ni XSD.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Microexercici: escriviu Oferta &lt; 40 € &amp; enviament de manera vàlida. Prioritza &amp;amp; i &amp;lt;.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Pregunta: si escrivim &lt;nota&gt; després de &lt;/cataleg&gt;, quantes arrels tindrà el document?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Pregunta: si dos proveïdors envien title, com sabem si parlen del mateix concepte? Defineix vocabulari abans de namespace.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Localitzeu els dos vocabularis i indiqueu quin element descriu el document complet. Declarem a l’arrel per no repetir.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Votació: canviar dc per meta canvia necessàriament el vocabulari? No, si els URI coincideixen.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És la distinció crítica. Completa oralment: producte sí pertany; codi no pertany. No induïsques a prefixar atributs 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Executa la comanda o mostra’n el resultat. Insistix: no suposem que és correcte perquè l’editor acolorix el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Tancament: bitllet d’eixida. Quina diferència hi ha entre XML ben format i complir les regles del negoci?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LLENGUATGES DE MARQUES · UNITAT 3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C8D5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47104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173"/>
                </a:solidFill>
              </a:rPr>
              <a:t>XML · estructura, vocabularis i comprovació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6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6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E3D5"/>
          </a:solidFill>
          <a:ln w="12700">
            <a:solidFill>
              <a:srgbClr val="8BE3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6692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E3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UNITAT 3 · LLENGUATGES DE MARQUES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097280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XML i espais</a:t>
            </a:r>
            <a:endParaRPr lang="en-US" sz="3700" dirty="0"/>
          </a:p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noms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94944" y="292608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C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 dades → escriu un arbre → identifica vocabularis → comprova amb un parser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06640" y="914400"/>
            <a:ext cx="4023360" cy="4434840"/>
          </a:xfrm>
          <a:prstGeom prst="roundRect">
            <a:avLst>
              <a:gd name="adj" fmla="val 2727"/>
            </a:avLst>
          </a:prstGeom>
          <a:solidFill>
            <a:srgbClr val="17315A"/>
          </a:solidFill>
          <a:ln w="12700">
            <a:solidFill>
              <a:srgbClr val="5C83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26680" y="1234440"/>
            <a:ext cx="3383280" cy="274320"/>
          </a:xfrm>
          <a:prstGeom prst="roundRect">
            <a:avLst>
              <a:gd name="adj" fmla="val 40000"/>
            </a:avLst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26187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CATÀLEG INTEROPERABLE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818120" y="173736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cataleg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├── dc:title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├── producte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├── nom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├── preu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└── disponible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└── producte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4944" y="5897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C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Dades amb significat, no una pantalla.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88720" y="6309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L’encàrrec: dades que no depenen de la pantalla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207008" y="106070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TecnoRiu envia el catàleg a una aplicació d’inventari.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1206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74520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0195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FITXA WEB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Teclat compacte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0120" y="2834640"/>
            <a:ext cx="4343400" cy="658368"/>
          </a:xfrm>
          <a:prstGeom prst="roundRect">
            <a:avLst>
              <a:gd name="adj" fmla="val 16667"/>
            </a:avLst>
          </a:prstGeom>
          <a:solidFill>
            <a:srgbClr val="DCEAF7"/>
          </a:solidFill>
          <a:ln w="12700">
            <a:solidFill>
              <a:srgbClr val="C5DA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3017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39,90 €  ·  Disponible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977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Colors, columnes i botons poden canviar.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97880" y="3154680"/>
            <a:ext cx="594360" cy="548640"/>
          </a:xfrm>
          <a:prstGeom prst="chevron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1600200"/>
            <a:ext cx="4846320" cy="4251960"/>
          </a:xfrm>
          <a:prstGeom prst="roundRect">
            <a:avLst>
              <a:gd name="adj" fmla="val 2581"/>
            </a:avLst>
          </a:prstGeom>
          <a:solidFill>
            <a:srgbClr val="DDF3EF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95160" y="1874520"/>
            <a:ext cx="2057400" cy="274320"/>
          </a:xfrm>
          <a:prstGeom prst="roundRect">
            <a:avLst>
              <a:gd name="adj" fmla="val 40000"/>
            </a:avLst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9019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DADES PER A INVENTARI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995160" y="2423160"/>
            <a:ext cx="374904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productes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disponibilitat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 sobre el document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48006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9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receptor necessita significat estable.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6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88720" y="6309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XML descriu un arbre de dades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207008" y="106070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L’arrel conté tot el document; els fills concreten la informació.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4617720" cy="4251960"/>
          </a:xfrm>
          <a:prstGeom prst="roundRect">
            <a:avLst>
              <a:gd name="adj" fmla="val 2581"/>
            </a:avLst>
          </a:prstGeom>
          <a:solidFill>
            <a:srgbClr val="EAF1F8"/>
          </a:solidFill>
          <a:ln w="12700">
            <a:solidFill>
              <a:srgbClr val="B6CD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728216"/>
            <a:ext cx="4215384" cy="399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cataleg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├── producte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├── nom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├── preu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└── disponible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└── producte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├── nom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├── preu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└── disponible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897880" y="160020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DCEAF7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9632" y="1901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ARREL  →  hi ha una sola entrada a l’arbre: cataleg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97880" y="283464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DDF3EF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3136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9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 / FILL  →  producte conté nom, preu i disponible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897880" y="406908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FF2D4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43708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GERMANS  →  nom, preu i disponible comparteixen pare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598932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sagnia ens ajuda a llegir l’arbre; la jerarquia la determinen les etiquetes.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6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88720" y="6309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Elements, atributs i text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207008" y="106070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dada té un paper; no uses atributs per a tot.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5806440" cy="3200400"/>
          </a:xfrm>
          <a:prstGeom prst="roundRect">
            <a:avLst>
              <a:gd name="adj" fmla="val 3429"/>
            </a:avLst>
          </a:prstGeom>
          <a:solidFill>
            <a:srgbClr val="EAF1F8"/>
          </a:solidFill>
          <a:ln w="12700">
            <a:solidFill>
              <a:srgbClr val="B6CD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28216"/>
            <a:ext cx="540410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&lt;producte codi="TR-101"&gt;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&lt;nom&gt;Teclat compacte&lt;/nom&gt;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&lt;preu moneda="EUR"&gt;39.90&lt;/preu&gt;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&lt;disponible&gt;sí&lt;/disponible&gt;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&lt;/producte&gt;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03720" y="1609344"/>
            <a:ext cx="4343400" cy="960120"/>
          </a:xfrm>
          <a:prstGeom prst="roundRect">
            <a:avLst>
              <a:gd name="adj" fmla="val 11429"/>
            </a:avLst>
          </a:prstGeom>
          <a:solidFill>
            <a:srgbClr val="DCEAF7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17739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78040" y="20482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producte agrupa dades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03720" y="2935224"/>
            <a:ext cx="4343400" cy="960120"/>
          </a:xfrm>
          <a:prstGeom prst="roundRect">
            <a:avLst>
              <a:gd name="adj" fmla="val 11429"/>
            </a:avLst>
          </a:prstGeom>
          <a:solidFill>
            <a:srgbClr val="DDF3EF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30998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9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78040" y="33741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 identifica; moneda qualifica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03720" y="4261104"/>
            <a:ext cx="4343400" cy="960120"/>
          </a:xfrm>
          <a:prstGeom prst="roundRect">
            <a:avLst>
              <a:gd name="adj" fmla="val 11429"/>
            </a:avLst>
          </a:prstGeom>
          <a:solidFill>
            <a:srgbClr val="FFF2D4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44256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78040" y="470001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39.90 i Teclat compacte aporten valor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" y="530352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Criteri: els elements són més flexibles si la dada pot créixer, repetir-se o tindre estructura.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6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88720" y="6309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sintaxi mínima: etiquetes ben imbricades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207008" y="106070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obri l’últim, es tanca el primer.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166360" cy="3520440"/>
          </a:xfrm>
          <a:prstGeom prst="roundRect">
            <a:avLst>
              <a:gd name="adj" fmla="val 3117"/>
            </a:avLst>
          </a:prstGeom>
          <a:solidFill>
            <a:srgbClr val="DDF3EF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874520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096B5A"/>
          </a:solidFill>
          <a:ln w="12700">
            <a:solidFill>
              <a:srgbClr val="096B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01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BEN FORMAT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51560" y="2331720"/>
            <a:ext cx="4526280" cy="1508760"/>
          </a:xfrm>
          <a:prstGeom prst="roundRect">
            <a:avLst>
              <a:gd name="adj" fmla="val 7273"/>
            </a:avLst>
          </a:prstGeom>
          <a:solidFill>
            <a:srgbClr val="EAF1F8"/>
          </a:solidFill>
          <a:ln w="12700">
            <a:solidFill>
              <a:srgbClr val="B6CD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2459736"/>
            <a:ext cx="412394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&lt;producte&gt;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&lt;nom&gt;Ratolí vertical&lt;/nom&gt;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&lt;/producte&gt;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42519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arrel · tancaments · imbricació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166360" cy="3520440"/>
          </a:xfrm>
          <a:prstGeom prst="roundRect">
            <a:avLst>
              <a:gd name="adj" fmla="val 3117"/>
            </a:avLst>
          </a:prstGeom>
          <a:solidFill>
            <a:srgbClr val="FCE4E4"/>
          </a:solidFill>
          <a:ln w="12700">
            <a:solidFill>
              <a:srgbClr val="E4B1B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874520"/>
            <a:ext cx="1874520" cy="274320"/>
          </a:xfrm>
          <a:prstGeom prst="roundRect">
            <a:avLst>
              <a:gd name="adj" fmla="val 40000"/>
            </a:avLst>
          </a:prstGeom>
          <a:solidFill>
            <a:srgbClr val="A61B1B"/>
          </a:solidFill>
          <a:ln w="12700">
            <a:solidFill>
              <a:srgbClr val="A61B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90195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ERROR D’IMBRICACIÓ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83680" y="2331720"/>
            <a:ext cx="4526280" cy="1508760"/>
          </a:xfrm>
          <a:prstGeom prst="roundRect">
            <a:avLst>
              <a:gd name="adj" fmla="val 7273"/>
            </a:avLst>
          </a:prstGeom>
          <a:solidFill>
            <a:srgbClr val="EAF1F8"/>
          </a:solidFill>
          <a:ln w="12700">
            <a:solidFill>
              <a:srgbClr val="B6CD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4848" y="2459736"/>
            <a:ext cx="412394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&lt;producte&gt;&lt;nom&gt;Ratolí vertical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&lt;/producte&gt;&lt;/nom&gt;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4251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6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pare no pot tancar-se abans que el fill.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577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 en parèntesis: ( [ ] ) és correcte; ( [ ) ] no.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6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88720" y="6309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Bona formació no és validesa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207008" y="106070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Especifica sempre què has comprovat.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5074920" cy="3474720"/>
          </a:xfrm>
          <a:prstGeom prst="roundRect">
            <a:avLst>
              <a:gd name="adj" fmla="val 3158"/>
            </a:avLst>
          </a:prstGeom>
          <a:solidFill>
            <a:srgbClr val="DCEAF7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920240"/>
            <a:ext cx="1554480" cy="274320"/>
          </a:xfrm>
          <a:prstGeom prst="roundRect">
            <a:avLst>
              <a:gd name="adj" fmla="val 40000"/>
            </a:avLst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9476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BONA FORMACIÓ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3000" y="2423160"/>
            <a:ext cx="41148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Sintaxi XML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arrel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Cometes, tancaments i imbricació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434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parser pot llegir l’arbre.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074920" cy="3474720"/>
          </a:xfrm>
          <a:prstGeom prst="roundRect">
            <a:avLst>
              <a:gd name="adj" fmla="val 3158"/>
            </a:avLst>
          </a:prstGeom>
          <a:solidFill>
            <a:srgbClr val="FFF2D4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920240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A66A00"/>
          </a:solidFill>
          <a:ln w="12700">
            <a:solidFill>
              <a:srgbClr val="A6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9476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VALIDESA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1148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Contracte extern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Elements i ordre admesos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Tipus i restriccions de valor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4434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A5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treballarà en la unitat 4.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91840" y="5486400"/>
            <a:ext cx="5577840" cy="640080"/>
          </a:xfrm>
          <a:prstGeom prst="roundRect">
            <a:avLst>
              <a:gd name="adj" fmla="val 17143"/>
            </a:avLst>
          </a:prstGeom>
          <a:solidFill>
            <a:srgbClr val="EAF1F8"/>
          </a:solidFill>
          <a:ln w="12700">
            <a:solidFill>
              <a:srgbClr val="B6CD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5614416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&lt;cataleg&gt;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&lt;producte/&gt;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&lt;/cataleg&gt;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6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88720" y="6309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Caràcters reservats: el text també té regles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207008" y="106070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parser interpreta &lt; i &amp; com a inici de sintaxi.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493776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920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Vols mostrar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9184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Escriu en XML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43000" y="2267712"/>
            <a:ext cx="4114800" cy="0"/>
          </a:xfrm>
          <a:prstGeom prst="line">
            <a:avLst/>
          </a:prstGeom>
          <a:noFill/>
          <a:ln w="12700">
            <a:solidFill>
              <a:srgbClr val="B9C9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560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Auriculars &lt; 50 €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7C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Auriculars &amp;lt; 50 €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Riu &amp; Fills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7C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Riu &amp;amp; Fills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205740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EAF1F8"/>
          </a:solidFill>
          <a:ln w="12700">
            <a:solidFill>
              <a:srgbClr val="B6CD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2185416"/>
            <a:ext cx="45354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&lt;nom&gt;Cable USB-C &amp;amp; USB-A&lt;/nom&gt;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3657600"/>
            <a:ext cx="4937760" cy="1143000"/>
          </a:xfrm>
          <a:prstGeom prst="roundRect">
            <a:avLst>
              <a:gd name="adj" fmla="val 9600"/>
            </a:avLst>
          </a:prstGeom>
          <a:solidFill>
            <a:srgbClr val="DDF3EF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886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que rep una aplicació és: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9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Cable USB-C &amp; USB-A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6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88720" y="6309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document comença identificant-se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207008" y="106070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declaració i la codificació real han de coincidir.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572768"/>
            <a:ext cx="5806440" cy="3840480"/>
          </a:xfrm>
          <a:prstGeom prst="roundRect">
            <a:avLst>
              <a:gd name="adj" fmla="val 2857"/>
            </a:avLst>
          </a:prstGeom>
          <a:solidFill>
            <a:srgbClr val="EAF1F8"/>
          </a:solidFill>
          <a:ln w="12700">
            <a:solidFill>
              <a:srgbClr val="B6CD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700784"/>
            <a:ext cx="5404104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&lt;?xml version="1.0" encoding="UTF-8"?&gt;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&lt;cataleg&gt;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&lt;producte codi="TR-101"&gt;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&lt;nom&gt;Teclat compacte&lt;/nom&gt;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&lt;/producte&gt;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&lt;/cataleg&gt;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40880" y="1600200"/>
            <a:ext cx="4297680" cy="960120"/>
          </a:xfrm>
          <a:prstGeom prst="roundRect">
            <a:avLst>
              <a:gd name="adj" fmla="val 11429"/>
            </a:avLst>
          </a:prstGeom>
          <a:solidFill>
            <a:srgbClr val="DCEAF7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0" y="1737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UTF-8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198424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 à, ç i ñ si el fitxer s’ha guardat realment en UTF-8.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40880" y="2834640"/>
            <a:ext cx="4297680" cy="960120"/>
          </a:xfrm>
          <a:prstGeom prst="roundRect">
            <a:avLst>
              <a:gd name="adj" fmla="val 11429"/>
            </a:avLst>
          </a:prstGeom>
          <a:solidFill>
            <a:srgbClr val="DDF3EF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2971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ARREL ÚNICA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321868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cataleg conté tota l’estructura; no hi ha un segon element exterior.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040880" y="4069080"/>
            <a:ext cx="4297680" cy="960120"/>
          </a:xfrm>
          <a:prstGeom prst="roundRect">
            <a:avLst>
              <a:gd name="adj" fmla="val 11429"/>
            </a:avLst>
          </a:prstGeom>
          <a:solidFill>
            <a:srgbClr val="FFF2D4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42062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SAGNIA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445312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Ajuda les persones a llegir; no és la regla que valida l’arbre.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6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88720" y="6309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Espais de noms: vocabularis sense col·lisions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207008" y="106070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mateix nom pot referir-se a conceptes diferents.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FF2D4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58568" y="19385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386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title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34640" y="2468880"/>
            <a:ext cx="0" cy="502920"/>
          </a:xfrm>
          <a:prstGeom prst="line">
            <a:avLst/>
          </a:prstGeom>
          <a:noFill/>
          <a:ln w="19050">
            <a:solidFill>
              <a:srgbClr val="5361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154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títol d’un document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3840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càrrec d’una persona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212080" y="2788920"/>
            <a:ext cx="640080" cy="594360"/>
          </a:xfrm>
          <a:prstGeom prst="chevron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600200"/>
            <a:ext cx="4983480" cy="3337560"/>
          </a:xfrm>
          <a:prstGeom prst="roundRect">
            <a:avLst>
              <a:gd name="adj" fmla="val 3288"/>
            </a:avLst>
          </a:prstGeom>
          <a:solidFill>
            <a:srgbClr val="DDF3EF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201168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EAF1F8"/>
          </a:solidFill>
          <a:ln w="12700">
            <a:solidFill>
              <a:srgbClr val="B6CD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22008" y="2139696"/>
            <a:ext cx="366674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&lt;dc:title&gt;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Catàleg de TecnoRiu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&lt;/dc:title&gt;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37947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9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espai de noms identifica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9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vocabulari de l’element.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5595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és un prefix; la identitat ve donada per un URI.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6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88720" y="6309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Declarem els vocabularis a l’arrel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207008" y="106070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TecnoRiu combina el seu vocabulari amb Dublin Core.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6629400" cy="4434840"/>
          </a:xfrm>
          <a:prstGeom prst="roundRect">
            <a:avLst>
              <a:gd name="adj" fmla="val 2474"/>
            </a:avLst>
          </a:prstGeom>
          <a:solidFill>
            <a:srgbClr val="EAF1F8"/>
          </a:solidFill>
          <a:ln w="12700">
            <a:solidFill>
              <a:srgbClr val="B6CD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36776"/>
            <a:ext cx="6227064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&lt;cataleg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xmlns="https://tecnoriu.example/ns/cataleg"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xmlns:dc="http://purl.org/dc/terms/"&gt;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&lt;dc:title&gt;Catàleg de TecnoRiu&lt;/dc:title&gt;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&lt;producte codi="TR-101"&gt;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&lt;nom&gt;Teclat compacte&lt;/nom&gt;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&lt;/producte&gt;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&lt;/cataleg&gt;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26680" y="173736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DCEAF7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9659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386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xmlns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0" y="226771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vocabulari propi per defecte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6680" y="301752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DDF3EF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32461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6B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xmlns:dc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0" y="35478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vocabulari Dublin Core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26680" y="429768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FF2D4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452628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dc:title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0" y="4828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metadada del document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6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88720" y="6309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prefix és una abreviació; el URI identifica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207008" y="106070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URI + nom local: la identitat tècnica completa.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4754880" cy="3291840"/>
          </a:xfrm>
          <a:prstGeom prst="roundRect">
            <a:avLst>
              <a:gd name="adj" fmla="val 3333"/>
            </a:avLst>
          </a:prstGeom>
          <a:solidFill>
            <a:srgbClr val="DCEAF7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057400"/>
            <a:ext cx="4114800" cy="1143000"/>
          </a:xfrm>
          <a:prstGeom prst="roundRect">
            <a:avLst>
              <a:gd name="adj" fmla="val 9600"/>
            </a:avLst>
          </a:prstGeom>
          <a:solidFill>
            <a:srgbClr val="EAF1F8"/>
          </a:solidFill>
          <a:ln w="12700">
            <a:solidFill>
              <a:srgbClr val="B6CD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4168" y="2185416"/>
            <a:ext cx="37124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xmlns:dc="http://purl.org/dc/terms/"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xmlns:meta="http://purl.org/dc/terms/"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prefixos, el mateix URI.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06440" y="2743200"/>
            <a:ext cx="594360" cy="548640"/>
          </a:xfrm>
          <a:prstGeom prst="chevron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1691640"/>
            <a:ext cx="4526280" cy="3291840"/>
          </a:xfrm>
          <a:prstGeom prst="roundRect">
            <a:avLst>
              <a:gd name="adj" fmla="val 3333"/>
            </a:avLst>
          </a:prstGeom>
          <a:solidFill>
            <a:srgbClr val="DDF3EF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148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96B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dc:title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086600" y="27889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96B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meta:title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040880" y="3337560"/>
            <a:ext cx="3566160" cy="0"/>
          </a:xfrm>
          <a:prstGeom prst="line">
            <a:avLst/>
          </a:prstGeom>
          <a:noFill/>
          <a:ln w="15240">
            <a:solidFill>
              <a:srgbClr val="096B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9168" y="3730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{http://purl.org/dc/terms/}title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59168" y="4160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mateix nom expandit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6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88720" y="6309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L’espai de noms per defecte no arriba als atributs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207008" y="106070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Elements sense prefix: sí. Atributs sense prefix: no.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6492240" cy="3749040"/>
          </a:xfrm>
          <a:prstGeom prst="roundRect">
            <a:avLst>
              <a:gd name="adj" fmla="val 2927"/>
            </a:avLst>
          </a:prstGeom>
          <a:solidFill>
            <a:srgbClr val="EAF1F8"/>
          </a:solidFill>
          <a:ln w="12700">
            <a:solidFill>
              <a:srgbClr val="B6CD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28216"/>
            <a:ext cx="608990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&lt;cataleg xmlns="https://tecnoriu.example/ns/cataleg"&gt;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&lt;producte codi="TR-101"&gt;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&lt;nom&gt;Teclat compacte&lt;/nom&gt;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&lt;/producte&gt;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&lt;/cataleg&gt;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89520" y="160020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DDF3EF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0" y="18745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96B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producte · nom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09560" y="22128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Vocabulari TecnoRiu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0" y="292608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CE4E4"/>
          </a:solidFill>
          <a:ln w="12700">
            <a:solidFill>
              <a:srgbClr val="E4B1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32004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61B1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codi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909560" y="35387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Sense espai de noms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0" y="4251960"/>
            <a:ext cx="3520440" cy="777240"/>
          </a:xfrm>
          <a:prstGeom prst="roundRect">
            <a:avLst>
              <a:gd name="adj" fmla="val 14118"/>
            </a:avLst>
          </a:prstGeom>
          <a:solidFill>
            <a:srgbClr val="FFF2D4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448056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cal prefixar codi en este catàleg.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6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88720" y="6309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Comprova, interpreta l’error i corregix una cosa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207008" y="106070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parser confirma la bona formació; la línia és una pista.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1572768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6583680" cy="1600200"/>
          </a:xfrm>
          <a:prstGeom prst="roundRect">
            <a:avLst>
              <a:gd name="adj" fmla="val 6857"/>
            </a:avLst>
          </a:prstGeom>
          <a:solidFill>
            <a:srgbClr val="EAF1F8"/>
          </a:solidFill>
          <a:ln w="12700">
            <a:solidFill>
              <a:srgbClr val="B6CD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002536"/>
            <a:ext cx="618134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python3 -c 'import xml.etree.ElementTree as ET;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ET.parse("cataleg.xml"); print("XML ben format")'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XML ben format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886200"/>
            <a:ext cx="10515600" cy="475488"/>
          </a:xfrm>
          <a:prstGeom prst="roundRect">
            <a:avLst>
              <a:gd name="adj" fmla="val 23077"/>
            </a:avLst>
          </a:prstGeom>
          <a:solidFill>
            <a:srgbClr val="DCEAF7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9959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386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mismatched tag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69080" y="399592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l’última etiqueta oberta.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498848"/>
            <a:ext cx="10515600" cy="475488"/>
          </a:xfrm>
          <a:prstGeom prst="roundRect">
            <a:avLst>
              <a:gd name="adj" fmla="val 23077"/>
            </a:avLst>
          </a:prstGeom>
          <a:solidFill>
            <a:srgbClr val="FFF2D4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60857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386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EntityRef: expecting 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69080" y="460857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Canvia &amp; per &amp;amp;.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5111496"/>
            <a:ext cx="10515600" cy="475488"/>
          </a:xfrm>
          <a:prstGeom prst="roundRect">
            <a:avLst>
              <a:gd name="adj" fmla="val 23077"/>
            </a:avLst>
          </a:prstGeom>
          <a:solidFill>
            <a:srgbClr val="DDF3EF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2212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386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prefix dc is not defined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69080" y="522122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 xmlns:dc a l’arrel.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9253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Canvia una cosa → torna a provar → registra el resultat.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6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88720" y="6309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Minirepte: catàleg interoperable de TecnoRiu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207008" y="106070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Construeix, comprova i documenta el procés.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47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E3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LLIURABLES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2331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cataleg.xml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proves-bona-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formacio.txt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4800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C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Dades fictícies.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C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Sense dades personals.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69037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B9C9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810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catàleg ha de tindre: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81728" y="2212848"/>
            <a:ext cx="5989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UTF-8, una arrel i tres productes amb codis diferents.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Vocabulari propi per defecte i prefix dc declarat.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dc:title, dc:creator i dc:language com a filles de l’arrel.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nom, preu amb moneda="EUR" i disponible.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Almenys un &amp;amp; o &amp;lt; ben escrit; comprovació i dos errors corregits.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97280" y="6080760"/>
            <a:ext cx="1463040" cy="256032"/>
          </a:xfrm>
          <a:prstGeom prst="chevron">
            <a:avLst/>
          </a:prstGeom>
          <a:solidFill>
            <a:srgbClr val="007C7A"/>
          </a:solidFill>
          <a:ln w="12700">
            <a:solidFill>
              <a:srgbClr val="007C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7150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57150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57150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COMPROVA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5715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41080" y="5715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361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Llenguatges de Marques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 i espais de noms</dc:title>
  <dc:subject>Unitat 3: XML i espais de noms</dc:subject>
  <dc:creator>Ferran Mas Doménech</dc:creator>
  <cp:lastModifiedBy>Ferran Mas Doménech</cp:lastModifiedBy>
  <cp:revision>1</cp:revision>
  <dcterms:created xsi:type="dcterms:W3CDTF">2026-10-14T14:04:04Z</dcterms:created>
  <dcterms:modified xsi:type="dcterms:W3CDTF">2026-10-14T14:04:04Z</dcterms:modified>
</cp:coreProperties>
</file>